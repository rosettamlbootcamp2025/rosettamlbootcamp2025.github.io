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78" r:id="rId2"/>
    <p:sldId id="355" r:id="rId3"/>
    <p:sldId id="357" r:id="rId4"/>
    <p:sldId id="3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89"/>
    <p:restoredTop sz="96197"/>
  </p:normalViewPr>
  <p:slideViewPr>
    <p:cSldViewPr snapToGrid="0">
      <p:cViewPr varScale="1">
        <p:scale>
          <a:sx n="121" d="100"/>
          <a:sy n="121" d="100"/>
        </p:scale>
        <p:origin x="18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C1941B-7A9A-6248-B091-C64B0922A368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0BEBFA-AB08-1B40-9F04-991932190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583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D16CC-5941-B1FF-5B66-84D6F8D37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9F08A4-EA55-9C0F-0F88-43F87040DA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B2BB35-9690-70D1-7E30-2ED4CC6A0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7F3B8-5C75-012B-DDF4-2E99B68F5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DCEAEF-709E-BA48-8772-E24ED933A00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0079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D16CC-5941-B1FF-5B66-84D6F8D37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9F08A4-EA55-9C0F-0F88-43F87040DA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B2BB35-9690-70D1-7E30-2ED4CC6A0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7F3B8-5C75-012B-DDF4-2E99B68F5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DCEAEF-709E-BA48-8772-E24ED933A00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3876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F111-0A68-2888-7DA0-4037F8364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03FC30-1DB7-00B6-569D-6ACD0F9322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8E251-DA1F-DDCE-3F18-5035A6C5E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F50C-6D59-3D4D-A1FF-E8D30334A9B5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20936-1A90-933F-019A-0F54C9A78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351D0-2220-6967-B48A-44CC8C35F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46181-BE66-8142-8AA7-65BE2F1A6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992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F933A-5BCD-B9A9-10A2-AFCD50886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AE4E5-25B7-48C5-2949-44AA16CC4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4F1F5-9DE4-BBEE-CB95-80F204958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F50C-6D59-3D4D-A1FF-E8D30334A9B5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67402-D117-83A8-5A15-1A53B092E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6B371-9DF3-2E42-F28F-82501380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46181-BE66-8142-8AA7-65BE2F1A6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388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DFDE-44F2-013F-C279-BD7A84292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3C52C-D921-2000-6CF2-D559BDA72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5A091-301E-F4EE-F25E-A64710B56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F50C-6D59-3D4D-A1FF-E8D30334A9B5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70CB1-B3D5-945F-4B77-705422FB1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36735-B026-FE04-59A3-620BCE927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46181-BE66-8142-8AA7-65BE2F1A6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560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ED397-EAD5-12A5-C2D1-D2505EABE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50104-D18D-A6A1-4815-D985B4F4B7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931172-D392-6A82-5CCE-DA162F89C9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DBF7C7-92E8-E4E8-5781-1D67D9497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F50C-6D59-3D4D-A1FF-E8D30334A9B5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74DB5F-B4E1-F11F-F91C-DDD2C3779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B28623-C7EF-A624-7BDB-382CA2337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46181-BE66-8142-8AA7-65BE2F1A6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691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89EEC-06D0-340F-943B-08EAF9CDF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60FB25-1A69-B21C-5FC8-E07F61341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B388C5-F102-DF81-C9E5-5E322830A6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1D8E61-472A-053D-BCAD-3735F3B659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B1AC82-6AFF-DDE2-AD5D-BE9DAB7B47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92295A-0DE2-A1BC-CEF2-4B8C968A7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F50C-6D59-3D4D-A1FF-E8D30334A9B5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92A7CB-E130-AB08-1C89-8F56301EE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B64C1E-4F67-9F98-F735-C1815F393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46181-BE66-8142-8AA7-65BE2F1A6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924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4FCFC-9120-1F08-448B-C51031252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2F81D7-993B-9142-9A9A-9207D8E48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F50C-6D59-3D4D-A1FF-E8D30334A9B5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37E689-A6E1-57A0-1C1D-DBA0EA44E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7824A-3B4D-4344-27F8-56B108043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46181-BE66-8142-8AA7-65BE2F1A6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455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2AC89E-3FD7-4F33-C671-74DFDDE37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F50C-6D59-3D4D-A1FF-E8D30334A9B5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7E3C2A-AC1C-0FF6-0C12-BE1027AF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EBC9F-A01B-77DA-DB29-147BC6268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46181-BE66-8142-8AA7-65BE2F1A6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772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B02A0-3EA4-33F0-F564-326EB3621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36F5C-2891-F51E-09FC-1339B059F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65FB82-C8CF-7509-41A4-1EBA9E0A84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DB6A02-75E7-8348-6A2D-ACE24A19C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F50C-6D59-3D4D-A1FF-E8D30334A9B5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27AC22-5FB2-C220-6143-544811702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306C64-FE29-90A2-B79F-D72CADBC0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46181-BE66-8142-8AA7-65BE2F1A6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932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5A27F-915B-64A2-BCBF-7ABFEAE13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A275FF-A349-216F-E4C6-BA3DAB745F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833217-F32F-CD09-D7DF-A6931FDB60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4511B2-8EC9-5F46-3774-E3699E3F6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F50C-6D59-3D4D-A1FF-E8D30334A9B5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A4F71-ABCC-064A-DC5F-411BAC80D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6EE35F-A89C-1250-94EA-AB16E5867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46181-BE66-8142-8AA7-65BE2F1A6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033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8BD82-1E53-7BD7-7B83-722DCB517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D47BA3-6D0E-5649-EEC5-92D7E053E1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5E50F-E1EB-9800-D238-7E68C2A9E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F50C-6D59-3D4D-A1FF-E8D30334A9B5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07C57-D26D-5B87-BE0D-B11B4D3BA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CEE03-61B3-1CD6-C9C4-3D8893C30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46181-BE66-8142-8AA7-65BE2F1A6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51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0371BB-D1BE-F746-7BC6-1447B98453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EFFBC9-A51B-F6CA-7F69-12BAE5F8D3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CAD6D-61E5-4049-771E-0E2C99D48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F50C-6D59-3D4D-A1FF-E8D30334A9B5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98A18-C119-C954-C0BF-037B12203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947AE-D0FC-13F2-D425-F2ACFBE01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46181-BE66-8142-8AA7-65BE2F1A6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713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85552A-D9C4-9E3F-7F8E-E3EB861C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2053C4-66D9-E1CA-1F23-C8A3C6E08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E4624-C554-F5C9-DEFA-898F559060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5CF50C-6D59-3D4D-A1FF-E8D30334A9B5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26EE9-B319-9CA4-044C-01C86611B9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B2A70-F6A3-6922-D2ED-E31C79D254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46181-BE66-8142-8AA7-65BE2F1A6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283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orful wires on a black background&#10;&#10;Description automatically generated">
            <a:extLst>
              <a:ext uri="{FF2B5EF4-FFF2-40B4-BE49-F238E27FC236}">
                <a16:creationId xmlns:a16="http://schemas.microsoft.com/office/drawing/2014/main" id="{F456DFE9-5BD6-8BA9-F5E7-1E8C48946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613" y="936313"/>
            <a:ext cx="2992610" cy="26636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CA7596-899A-51E9-BACA-A2EC391ACC1D}"/>
              </a:ext>
            </a:extLst>
          </p:cNvPr>
          <p:cNvSpPr txBox="1"/>
          <p:nvPr/>
        </p:nvSpPr>
        <p:spPr>
          <a:xfrm>
            <a:off x="2399468" y="1363151"/>
            <a:ext cx="1785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+10</a:t>
            </a:r>
          </a:p>
        </p:txBody>
      </p:sp>
      <p:pic>
        <p:nvPicPr>
          <p:cNvPr id="9" name="Picture 8" descr="A colorful ribbons on a black background&#10;&#10;Description automatically generated">
            <a:extLst>
              <a:ext uri="{FF2B5EF4-FFF2-40B4-BE49-F238E27FC236}">
                <a16:creationId xmlns:a16="http://schemas.microsoft.com/office/drawing/2014/main" id="{28630D9A-3569-2711-CD00-1BC3D6840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170" y="979255"/>
            <a:ext cx="3452023" cy="25160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FD732E-8F8A-97D6-3D4B-F6778718A504}"/>
              </a:ext>
            </a:extLst>
          </p:cNvPr>
          <p:cNvSpPr txBox="1"/>
          <p:nvPr/>
        </p:nvSpPr>
        <p:spPr>
          <a:xfrm>
            <a:off x="9793054" y="1113112"/>
            <a:ext cx="1896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+15</a:t>
            </a:r>
          </a:p>
        </p:txBody>
      </p:sp>
      <p:pic>
        <p:nvPicPr>
          <p:cNvPr id="17" name="Picture 16" descr="A colorful wires and ribbons&#10;&#10;Description automatically generated with medium confidence">
            <a:extLst>
              <a:ext uri="{FF2B5EF4-FFF2-40B4-BE49-F238E27FC236}">
                <a16:creationId xmlns:a16="http://schemas.microsoft.com/office/drawing/2014/main" id="{AC2ADC10-D8A5-4797-4763-0861C5703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5415" y="936314"/>
            <a:ext cx="3540231" cy="275808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CF5797F-E7CD-1043-375B-BE09A7D5413C}"/>
              </a:ext>
            </a:extLst>
          </p:cNvPr>
          <p:cNvSpPr txBox="1"/>
          <p:nvPr/>
        </p:nvSpPr>
        <p:spPr>
          <a:xfrm>
            <a:off x="4763795" y="1081631"/>
            <a:ext cx="18467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+12</a:t>
            </a:r>
          </a:p>
        </p:txBody>
      </p:sp>
      <p:pic>
        <p:nvPicPr>
          <p:cNvPr id="35" name="Picture 34" descr="A bunch of colorful arrows&#10;&#10;Description automatically generated">
            <a:extLst>
              <a:ext uri="{FF2B5EF4-FFF2-40B4-BE49-F238E27FC236}">
                <a16:creationId xmlns:a16="http://schemas.microsoft.com/office/drawing/2014/main" id="{2208A82A-6CB3-F3E4-7685-9DA3B4F5FB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613" y="4006944"/>
            <a:ext cx="3388849" cy="263506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75979864-B21B-21B9-C92F-473F2D38AA46}"/>
              </a:ext>
            </a:extLst>
          </p:cNvPr>
          <p:cNvSpPr txBox="1"/>
          <p:nvPr/>
        </p:nvSpPr>
        <p:spPr>
          <a:xfrm>
            <a:off x="3236180" y="4221682"/>
            <a:ext cx="1767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+20</a:t>
            </a:r>
          </a:p>
        </p:txBody>
      </p:sp>
      <p:pic>
        <p:nvPicPr>
          <p:cNvPr id="37" name="Picture 36" descr="A bunch of colorful ribbons&#10;&#10;Description automatically generated">
            <a:extLst>
              <a:ext uri="{FF2B5EF4-FFF2-40B4-BE49-F238E27FC236}">
                <a16:creationId xmlns:a16="http://schemas.microsoft.com/office/drawing/2014/main" id="{FCABDF9E-3790-1398-F5F5-A70F119A17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1490" y="3905880"/>
            <a:ext cx="2790458" cy="2871146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020C955-39CA-C41F-B80F-B88C03A27A3F}"/>
              </a:ext>
            </a:extLst>
          </p:cNvPr>
          <p:cNvSpPr txBox="1"/>
          <p:nvPr/>
        </p:nvSpPr>
        <p:spPr>
          <a:xfrm>
            <a:off x="4820996" y="4606403"/>
            <a:ext cx="1870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+25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D44306-186A-1BE8-4919-3C332ECC8FBE}"/>
              </a:ext>
            </a:extLst>
          </p:cNvPr>
          <p:cNvSpPr/>
          <p:nvPr/>
        </p:nvSpPr>
        <p:spPr>
          <a:xfrm>
            <a:off x="0" y="0"/>
            <a:ext cx="12192000" cy="1020536"/>
          </a:xfrm>
          <a:prstGeom prst="rect">
            <a:avLst/>
          </a:prstGeom>
          <a:solidFill>
            <a:srgbClr val="0228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A blue and yellow logo with a horse head&#10;&#10;Description automatically generated">
            <a:extLst>
              <a:ext uri="{FF2B5EF4-FFF2-40B4-BE49-F238E27FC236}">
                <a16:creationId xmlns:a16="http://schemas.microsoft.com/office/drawing/2014/main" id="{70DB1C09-169B-2A89-2A3D-31C3A7E1766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29" t="3605" r="21213" b="16264"/>
          <a:stretch/>
        </p:blipFill>
        <p:spPr>
          <a:xfrm>
            <a:off x="122464" y="26608"/>
            <a:ext cx="1102178" cy="9939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D62E37D-7F04-E0E0-81C3-E40F370392D1}"/>
              </a:ext>
            </a:extLst>
          </p:cNvPr>
          <p:cNvSpPr txBox="1"/>
          <p:nvPr/>
        </p:nvSpPr>
        <p:spPr>
          <a:xfrm>
            <a:off x="1151489" y="200407"/>
            <a:ext cx="10918047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srgbClr val="FFFFFF"/>
                </a:solidFill>
                <a:latin typeface="Roboto" panose="02000000000000000000" pitchFamily="2" charset="0"/>
              </a:rPr>
              <a:t>Examples of </a:t>
            </a:r>
            <a:r>
              <a:rPr lang="en-US" sz="3600" dirty="0" err="1">
                <a:solidFill>
                  <a:srgbClr val="FFFFFF"/>
                </a:solidFill>
                <a:latin typeface="Roboto" panose="02000000000000000000" pitchFamily="2" charset="0"/>
              </a:rPr>
              <a:t>RFDiffusion</a:t>
            </a:r>
            <a:r>
              <a:rPr lang="en-US" sz="3600" dirty="0">
                <a:solidFill>
                  <a:srgbClr val="FFFFFF"/>
                </a:solidFill>
                <a:latin typeface="Roboto" panose="02000000000000000000" pitchFamily="2" charset="0"/>
              </a:rPr>
              <a:t> outputs - 10 models each</a:t>
            </a:r>
            <a:endParaRPr kumimoji="0" lang="en-US" sz="3600" b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E8A1D7-A24D-B0CD-C4D8-5F571BE41980}"/>
              </a:ext>
            </a:extLst>
          </p:cNvPr>
          <p:cNvSpPr txBox="1"/>
          <p:nvPr/>
        </p:nvSpPr>
        <p:spPr>
          <a:xfrm>
            <a:off x="7621933" y="4206293"/>
            <a:ext cx="390536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High similarity for inserts 10-15</a:t>
            </a:r>
          </a:p>
          <a:p>
            <a:endParaRPr lang="en-US" sz="2000" dirty="0"/>
          </a:p>
          <a:p>
            <a:r>
              <a:rPr lang="en-US" sz="2000" dirty="0"/>
              <a:t>Starts to show variety around 20-25</a:t>
            </a:r>
          </a:p>
        </p:txBody>
      </p:sp>
    </p:spTree>
    <p:extLst>
      <p:ext uri="{BB962C8B-B14F-4D97-AF65-F5344CB8AC3E}">
        <p14:creationId xmlns:p14="http://schemas.microsoft.com/office/powerpoint/2010/main" val="3965121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C5DAB-5F90-D88B-7E0D-7B53DCC68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32120AE6-6FCE-8C14-35BE-46AA79D012F9}"/>
              </a:ext>
            </a:extLst>
          </p:cNvPr>
          <p:cNvSpPr/>
          <p:nvPr/>
        </p:nvSpPr>
        <p:spPr>
          <a:xfrm>
            <a:off x="0" y="0"/>
            <a:ext cx="12192000" cy="1020536"/>
          </a:xfrm>
          <a:prstGeom prst="rect">
            <a:avLst/>
          </a:prstGeom>
          <a:solidFill>
            <a:srgbClr val="0228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Picture 37" descr="A blue and yellow logo with a horse head&#10;&#10;Description automatically generated">
            <a:extLst>
              <a:ext uri="{FF2B5EF4-FFF2-40B4-BE49-F238E27FC236}">
                <a16:creationId xmlns:a16="http://schemas.microsoft.com/office/drawing/2014/main" id="{B219002B-AA4F-9732-FCF9-65D49914451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29" t="3605" r="21213" b="16264"/>
          <a:stretch/>
        </p:blipFill>
        <p:spPr>
          <a:xfrm>
            <a:off x="122464" y="26608"/>
            <a:ext cx="1102178" cy="993928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0553E778-EA31-FB8B-3ED7-1A020291226C}"/>
              </a:ext>
            </a:extLst>
          </p:cNvPr>
          <p:cNvSpPr txBox="1"/>
          <p:nvPr/>
        </p:nvSpPr>
        <p:spPr>
          <a:xfrm>
            <a:off x="1151490" y="200407"/>
            <a:ext cx="9019240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srgbClr val="FFFFFF"/>
                </a:solidFill>
                <a:latin typeface="Roboto" panose="02000000000000000000" pitchFamily="2" charset="0"/>
              </a:rPr>
              <a:t>Mary’s AI-driven design workflow</a:t>
            </a:r>
            <a:endParaRPr kumimoji="0" lang="en-US" sz="3600" b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B1D5A161-E952-F213-9482-B42A4A6067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835" y="1008910"/>
            <a:ext cx="10431223" cy="60807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2369B5-3B90-E8B2-849C-892A49724F9A}"/>
              </a:ext>
            </a:extLst>
          </p:cNvPr>
          <p:cNvSpPr txBox="1"/>
          <p:nvPr/>
        </p:nvSpPr>
        <p:spPr>
          <a:xfrm>
            <a:off x="10950788" y="2523281"/>
            <a:ext cx="12890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=10,000 </a:t>
            </a:r>
          </a:p>
          <a:p>
            <a:r>
              <a:rPr lang="en-US" dirty="0"/>
              <a:t>models!</a:t>
            </a:r>
          </a:p>
          <a:p>
            <a:r>
              <a:rPr lang="en-US" dirty="0"/>
              <a:t>(too many!)</a:t>
            </a:r>
          </a:p>
        </p:txBody>
      </p:sp>
    </p:spTree>
    <p:extLst>
      <p:ext uri="{BB962C8B-B14F-4D97-AF65-F5344CB8AC3E}">
        <p14:creationId xmlns:p14="http://schemas.microsoft.com/office/powerpoint/2010/main" val="1682960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C5DAB-5F90-D88B-7E0D-7B53DCC68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32120AE6-6FCE-8C14-35BE-46AA79D012F9}"/>
              </a:ext>
            </a:extLst>
          </p:cNvPr>
          <p:cNvSpPr/>
          <p:nvPr/>
        </p:nvSpPr>
        <p:spPr>
          <a:xfrm>
            <a:off x="0" y="0"/>
            <a:ext cx="12192000" cy="1020536"/>
          </a:xfrm>
          <a:prstGeom prst="rect">
            <a:avLst/>
          </a:prstGeom>
          <a:solidFill>
            <a:srgbClr val="0228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Picture 37" descr="A blue and yellow logo with a horse head&#10;&#10;Description automatically generated">
            <a:extLst>
              <a:ext uri="{FF2B5EF4-FFF2-40B4-BE49-F238E27FC236}">
                <a16:creationId xmlns:a16="http://schemas.microsoft.com/office/drawing/2014/main" id="{B219002B-AA4F-9732-FCF9-65D49914451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29" t="3605" r="21213" b="16264"/>
          <a:stretch/>
        </p:blipFill>
        <p:spPr>
          <a:xfrm>
            <a:off x="122464" y="26608"/>
            <a:ext cx="1102178" cy="993928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0553E778-EA31-FB8B-3ED7-1A020291226C}"/>
              </a:ext>
            </a:extLst>
          </p:cNvPr>
          <p:cNvSpPr txBox="1"/>
          <p:nvPr/>
        </p:nvSpPr>
        <p:spPr>
          <a:xfrm>
            <a:off x="1151490" y="200407"/>
            <a:ext cx="9019240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srgbClr val="FFFFFF"/>
                </a:solidFill>
                <a:latin typeface="Roboto" panose="02000000000000000000" pitchFamily="2" charset="0"/>
              </a:rPr>
              <a:t>Mary’s AI-driven design workflow</a:t>
            </a:r>
            <a:endParaRPr kumimoji="0" lang="en-US" sz="3600" b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B1D5A161-E952-F213-9482-B42A4A6067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835" y="1008910"/>
            <a:ext cx="10431223" cy="60807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2369B5-3B90-E8B2-849C-892A49724F9A}"/>
              </a:ext>
            </a:extLst>
          </p:cNvPr>
          <p:cNvSpPr txBox="1"/>
          <p:nvPr/>
        </p:nvSpPr>
        <p:spPr>
          <a:xfrm>
            <a:off x="10950788" y="2523281"/>
            <a:ext cx="12890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=10,000 </a:t>
            </a:r>
          </a:p>
          <a:p>
            <a:r>
              <a:rPr lang="en-US" dirty="0"/>
              <a:t>models!</a:t>
            </a:r>
          </a:p>
          <a:p>
            <a:r>
              <a:rPr lang="en-US" dirty="0"/>
              <a:t>(too many!)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CC1FB7-B571-DB53-E22C-40A4EA3717EF}"/>
              </a:ext>
            </a:extLst>
          </p:cNvPr>
          <p:cNvSpPr txBox="1"/>
          <p:nvPr/>
        </p:nvSpPr>
        <p:spPr>
          <a:xfrm>
            <a:off x="7385767" y="3619947"/>
            <a:ext cx="2970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The question is how to filter?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527788-B069-B9DC-C911-D4EC27ADE170}"/>
              </a:ext>
            </a:extLst>
          </p:cNvPr>
          <p:cNvSpPr txBox="1"/>
          <p:nvPr/>
        </p:nvSpPr>
        <p:spPr>
          <a:xfrm>
            <a:off x="852835" y="4292062"/>
            <a:ext cx="1655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Needs a filter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D77B9A2-9775-846A-BA05-4D6031BFB0A0}"/>
              </a:ext>
            </a:extLst>
          </p:cNvPr>
          <p:cNvCxnSpPr>
            <a:cxnSpLocks/>
          </p:cNvCxnSpPr>
          <p:nvPr/>
        </p:nvCxnSpPr>
        <p:spPr>
          <a:xfrm flipV="1">
            <a:off x="2060294" y="3169612"/>
            <a:ext cx="2534855" cy="1122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A83B4C7-8134-E273-5B7C-01305DA87C96}"/>
              </a:ext>
            </a:extLst>
          </p:cNvPr>
          <p:cNvCxnSpPr>
            <a:cxnSpLocks/>
          </p:cNvCxnSpPr>
          <p:nvPr/>
        </p:nvCxnSpPr>
        <p:spPr>
          <a:xfrm flipV="1">
            <a:off x="10950788" y="3446611"/>
            <a:ext cx="388377" cy="1214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C7698A4-7478-3DFF-B924-7B5CE7DDB1F4}"/>
              </a:ext>
            </a:extLst>
          </p:cNvPr>
          <p:cNvSpPr txBox="1"/>
          <p:nvPr/>
        </p:nvSpPr>
        <p:spPr>
          <a:xfrm>
            <a:off x="9469487" y="4641268"/>
            <a:ext cx="26869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Filters on </a:t>
            </a:r>
            <a:r>
              <a:rPr lang="en-US" b="1" dirty="0" err="1"/>
              <a:t>RFDiffusion</a:t>
            </a:r>
            <a:r>
              <a:rPr lang="en-US" b="1" dirty="0"/>
              <a:t> outputs will reduce the total number of models generated with MPNN</a:t>
            </a:r>
          </a:p>
        </p:txBody>
      </p:sp>
    </p:spTree>
    <p:extLst>
      <p:ext uri="{BB962C8B-B14F-4D97-AF65-F5344CB8AC3E}">
        <p14:creationId xmlns:p14="http://schemas.microsoft.com/office/powerpoint/2010/main" val="1903535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A4DBDF-EFE7-9167-97D9-C090BAC8133B}"/>
              </a:ext>
            </a:extLst>
          </p:cNvPr>
          <p:cNvSpPr/>
          <p:nvPr/>
        </p:nvSpPr>
        <p:spPr>
          <a:xfrm>
            <a:off x="0" y="0"/>
            <a:ext cx="12192000" cy="1020536"/>
          </a:xfrm>
          <a:prstGeom prst="rect">
            <a:avLst/>
          </a:prstGeom>
          <a:solidFill>
            <a:srgbClr val="0228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 descr="A blue and yellow logo with a horse head&#10;&#10;Description automatically generated">
            <a:extLst>
              <a:ext uri="{FF2B5EF4-FFF2-40B4-BE49-F238E27FC236}">
                <a16:creationId xmlns:a16="http://schemas.microsoft.com/office/drawing/2014/main" id="{708E559B-068A-9D66-EA66-BB386F1915B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29" t="3605" r="21213" b="16264"/>
          <a:stretch/>
        </p:blipFill>
        <p:spPr>
          <a:xfrm>
            <a:off x="122464" y="26608"/>
            <a:ext cx="1102178" cy="9939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D7E709-FAD1-D044-6E5A-5A943E89385D}"/>
              </a:ext>
            </a:extLst>
          </p:cNvPr>
          <p:cNvSpPr txBox="1"/>
          <p:nvPr/>
        </p:nvSpPr>
        <p:spPr>
          <a:xfrm>
            <a:off x="1151490" y="200407"/>
            <a:ext cx="9019240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srgbClr val="FFFFFF"/>
                </a:solidFill>
                <a:latin typeface="Roboto" panose="02000000000000000000" pitchFamily="2" charset="0"/>
              </a:rPr>
              <a:t>Advice for designing your pipeline</a:t>
            </a:r>
            <a:endParaRPr kumimoji="0" lang="en-US" sz="3600" b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08769E-8209-D9B3-2DCB-DBB09AD5A1A7}"/>
              </a:ext>
            </a:extLst>
          </p:cNvPr>
          <p:cNvSpPr txBox="1"/>
          <p:nvPr/>
        </p:nvSpPr>
        <p:spPr>
          <a:xfrm>
            <a:off x="122464" y="1368008"/>
            <a:ext cx="12011686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/>
              <a:t>Have a clear goal of what you want to design.</a:t>
            </a:r>
          </a:p>
          <a:p>
            <a:pPr lvl="2"/>
            <a:r>
              <a:rPr lang="en-US" sz="2400" dirty="0"/>
              <a:t>Specifically, what is the goal? What do you want to change or create with the protein?</a:t>
            </a:r>
          </a:p>
          <a:p>
            <a:pPr lvl="2"/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Go slow and take notes of each input &amp; output</a:t>
            </a:r>
          </a:p>
          <a:p>
            <a:pPr lvl="2"/>
            <a:r>
              <a:rPr lang="en-US" sz="2400" dirty="0"/>
              <a:t>As you make changes and run different things, you will forget what you ran!</a:t>
            </a:r>
          </a:p>
          <a:p>
            <a:pPr lvl="2"/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Turn one knob at a time</a:t>
            </a:r>
          </a:p>
          <a:p>
            <a:pPr lvl="2"/>
            <a:r>
              <a:rPr lang="en-US" sz="2400" dirty="0"/>
              <a:t>Go slow with designs, choosing the simplest option first before adding more options.</a:t>
            </a:r>
          </a:p>
          <a:p>
            <a:pPr lvl="2"/>
            <a:r>
              <a:rPr lang="en-US" sz="2400" dirty="0"/>
              <a:t>Changing too many things at once can lead to the inability to adjust specific things later.</a:t>
            </a:r>
          </a:p>
          <a:p>
            <a:pPr lvl="2"/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Keep track of the decisions made for each step and </a:t>
            </a:r>
            <a:r>
              <a:rPr lang="en-US" sz="2400" u="sng" dirty="0"/>
              <a:t>why</a:t>
            </a:r>
            <a:r>
              <a:rPr lang="en-US" sz="2400" dirty="0"/>
              <a:t> those decisions were made.</a:t>
            </a:r>
          </a:p>
        </p:txBody>
      </p:sp>
    </p:spTree>
    <p:extLst>
      <p:ext uri="{BB962C8B-B14F-4D97-AF65-F5344CB8AC3E}">
        <p14:creationId xmlns:p14="http://schemas.microsoft.com/office/powerpoint/2010/main" val="2324028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194</Words>
  <Application>Microsoft Macintosh PowerPoint</Application>
  <PresentationFormat>Widescreen</PresentationFormat>
  <Paragraphs>34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Mary A Riley</dc:creator>
  <cp:lastModifiedBy>Mary A Riley</cp:lastModifiedBy>
  <cp:revision>6</cp:revision>
  <dcterms:created xsi:type="dcterms:W3CDTF">2025-11-19T16:03:33Z</dcterms:created>
  <dcterms:modified xsi:type="dcterms:W3CDTF">2025-11-20T20:06:38Z</dcterms:modified>
</cp:coreProperties>
</file>