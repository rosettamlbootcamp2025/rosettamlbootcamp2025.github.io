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juo+LfGtAB79And9ev2wKCkD5C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95CEF3-7272-4C98-9118-D3B95D5397D9}">
  <a:tblStyle styleId="{9295CEF3-7272-4C98-9118-D3B95D5397D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78668d680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a78668d68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78668d680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a78668d680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78668d68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78668d68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78668d68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78668d68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78668d68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78668d68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78668d68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78668d68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Docking</a:t>
            </a:r>
            <a:endParaRPr/>
          </a:p>
        </p:txBody>
      </p:sp>
      <p:sp>
        <p:nvSpPr>
          <p:cNvPr id="52" name="Google Shape;52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Rosetta ML Bootcamp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Ian Anderson</a:t>
            </a: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5199133" y="4835723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2024 slides of Nick Randolph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What is docking?</a:t>
            </a:r>
            <a:endParaRPr sz="28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What is docking?</a:t>
            </a:r>
            <a:endParaRPr sz="2820"/>
          </a:p>
        </p:txBody>
      </p:sp>
      <p:sp>
        <p:nvSpPr>
          <p:cNvPr id="64" name="Google Shape;64;p3"/>
          <p:cNvSpPr txBox="1"/>
          <p:nvPr>
            <p:ph idx="1" type="body"/>
          </p:nvPr>
        </p:nvSpPr>
        <p:spPr>
          <a:xfrm>
            <a:off x="1765450" y="1017725"/>
            <a:ext cx="58896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400"/>
              <a:t>Given two protein subunits, what is the orientation in which they’re binding?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What is docking?</a:t>
            </a:r>
            <a:endParaRPr sz="2820"/>
          </a:p>
        </p:txBody>
      </p:sp>
      <p:sp>
        <p:nvSpPr>
          <p:cNvPr id="70" name="Google Shape;70;p4"/>
          <p:cNvSpPr txBox="1"/>
          <p:nvPr>
            <p:ph idx="1" type="body"/>
          </p:nvPr>
        </p:nvSpPr>
        <p:spPr>
          <a:xfrm>
            <a:off x="1765450" y="1017725"/>
            <a:ext cx="58896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400"/>
              <a:t>Given two protein subunits, what is the orientation in which they’re binding?</a:t>
            </a:r>
            <a:endParaRPr sz="2400"/>
          </a:p>
        </p:txBody>
      </p:sp>
      <p:sp>
        <p:nvSpPr>
          <p:cNvPr id="71" name="Google Shape;71;p4"/>
          <p:cNvSpPr txBox="1"/>
          <p:nvPr/>
        </p:nvSpPr>
        <p:spPr>
          <a:xfrm>
            <a:off x="6065250" y="2255450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Docked Complex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4"/>
          <p:cNvCxnSpPr>
            <a:stCxn id="73" idx="1"/>
            <a:endCxn id="74" idx="1"/>
          </p:cNvCxnSpPr>
          <p:nvPr/>
        </p:nvCxnSpPr>
        <p:spPr>
          <a:xfrm>
            <a:off x="3561400" y="3868063"/>
            <a:ext cx="22977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4"/>
          <p:cNvSpPr txBox="1"/>
          <p:nvPr/>
        </p:nvSpPr>
        <p:spPr>
          <a:xfrm>
            <a:off x="112750" y="2255450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Subunit 1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844900" y="2255450"/>
            <a:ext cx="21270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Subunit 2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21332" l="28589" r="26571" t="28566"/>
          <a:stretch/>
        </p:blipFill>
        <p:spPr>
          <a:xfrm>
            <a:off x="5859100" y="2679950"/>
            <a:ext cx="2539299" cy="23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27164" l="28588" r="49178" t="28567"/>
          <a:stretch/>
        </p:blipFill>
        <p:spPr>
          <a:xfrm rot="10800000">
            <a:off x="546712" y="2818338"/>
            <a:ext cx="1259075" cy="209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4"/>
          <p:cNvPicPr preferRelativeResize="0"/>
          <p:nvPr/>
        </p:nvPicPr>
        <p:blipFill rotWithShape="1">
          <a:blip r:embed="rId3">
            <a:alphaModFix/>
          </a:blip>
          <a:srcRect b="20518" l="50294" r="26644" t="35853"/>
          <a:stretch/>
        </p:blipFill>
        <p:spPr>
          <a:xfrm rot="10800000">
            <a:off x="2255400" y="2833450"/>
            <a:ext cx="1306000" cy="20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 txBox="1"/>
          <p:nvPr/>
        </p:nvSpPr>
        <p:spPr>
          <a:xfrm>
            <a:off x="1765450" y="3581705"/>
            <a:ext cx="613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1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What is docking?</a:t>
            </a:r>
            <a:endParaRPr sz="2820"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2942700" y="731375"/>
            <a:ext cx="5889600" cy="5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2400"/>
              <a:t>Given a protein and a small molecule, what is the orientation in which they’re binding?</a:t>
            </a:r>
            <a:endParaRPr sz="2400"/>
          </a:p>
        </p:txBody>
      </p:sp>
      <p:pic>
        <p:nvPicPr>
          <p:cNvPr descr="A collage of several images of a molecule&#10;&#10;AI-generated content may be incorrect."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3036" y="2069059"/>
            <a:ext cx="4199767" cy="299983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 txBox="1"/>
          <p:nvPr/>
        </p:nvSpPr>
        <p:spPr>
          <a:xfrm>
            <a:off x="7779301" y="4635351"/>
            <a:ext cx="1947326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0" i="0" lang="e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Bertolani et al. (2019)</a:t>
            </a:r>
            <a:endParaRPr b="0" i="0" sz="2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Rigid body vs flexible docking</a:t>
            </a:r>
            <a:endParaRPr/>
          </a:p>
        </p:txBody>
      </p:sp>
      <p:sp>
        <p:nvSpPr>
          <p:cNvPr id="92" name="Google Shape;92;p6"/>
          <p:cNvSpPr txBox="1"/>
          <p:nvPr>
            <p:ph idx="1" type="body"/>
          </p:nvPr>
        </p:nvSpPr>
        <p:spPr>
          <a:xfrm>
            <a:off x="497750" y="1229400"/>
            <a:ext cx="4444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b="1" lang="en"/>
            </a:br>
            <a:r>
              <a:rPr b="1" lang="en"/>
              <a:t>Most methods assume rigid body docking which is unrealistic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Flexible docking hard because of lack of data and extra degrees of freedom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Rigid body vs flexible docking</a:t>
            </a:r>
            <a:endParaRPr/>
          </a:p>
        </p:txBody>
      </p:sp>
      <p:sp>
        <p:nvSpPr>
          <p:cNvPr id="98" name="Google Shape;98;p7"/>
          <p:cNvSpPr txBox="1"/>
          <p:nvPr>
            <p:ph idx="1" type="body"/>
          </p:nvPr>
        </p:nvSpPr>
        <p:spPr>
          <a:xfrm>
            <a:off x="497750" y="1229400"/>
            <a:ext cx="4444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b="1" lang="en"/>
            </a:br>
            <a:r>
              <a:rPr b="1" lang="en"/>
              <a:t>Most methods assume rigid body docking which is unrealistic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Flexible docking hard because of lack of data and extra degrees of freedom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5500" y="557298"/>
            <a:ext cx="4179624" cy="432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Different docking protocols</a:t>
            </a:r>
            <a:endParaRPr/>
          </a:p>
        </p:txBody>
      </p:sp>
      <p:sp>
        <p:nvSpPr>
          <p:cNvPr id="105" name="Google Shape;105;p8"/>
          <p:cNvSpPr txBox="1"/>
          <p:nvPr/>
        </p:nvSpPr>
        <p:spPr>
          <a:xfrm>
            <a:off x="1933300" y="1078650"/>
            <a:ext cx="5922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Rigid-body docking:</a:t>
            </a:r>
            <a:r>
              <a:rPr lang="en" sz="1300">
                <a:solidFill>
                  <a:schemeClr val="dk1"/>
                </a:solidFill>
              </a:rPr>
              <a:t> ZDOCK, ClusPro, PatchDock → </a:t>
            </a:r>
            <a:r>
              <a:rPr i="1" lang="en" sz="1300">
                <a:solidFill>
                  <a:schemeClr val="dk1"/>
                </a:solidFill>
              </a:rPr>
              <a:t>fast, rough, no flexibility.</a:t>
            </a:r>
            <a:br>
              <a:rPr i="1" lang="en" sz="1300">
                <a:solidFill>
                  <a:schemeClr val="dk1"/>
                </a:solidFill>
              </a:rPr>
            </a:b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Flexible-ligand docking:</a:t>
            </a:r>
            <a:r>
              <a:rPr lang="en" sz="1300">
                <a:solidFill>
                  <a:schemeClr val="dk1"/>
                </a:solidFill>
              </a:rPr>
              <a:t> AutoDock Vina, GOLD, Glide → </a:t>
            </a:r>
            <a:r>
              <a:rPr i="1" lang="en" sz="1300">
                <a:solidFill>
                  <a:schemeClr val="dk1"/>
                </a:solidFill>
              </a:rPr>
              <a:t>ligand flexible, protein mostly rigid.</a:t>
            </a:r>
            <a:br>
              <a:rPr i="1" lang="en" sz="1300">
                <a:solidFill>
                  <a:schemeClr val="dk1"/>
                </a:solidFill>
              </a:rPr>
            </a:b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Protein-flexible docking:</a:t>
            </a:r>
            <a:r>
              <a:rPr lang="en" sz="1300">
                <a:solidFill>
                  <a:schemeClr val="dk1"/>
                </a:solidFill>
              </a:rPr>
              <a:t> RosettaDock, HADDOCK → </a:t>
            </a:r>
            <a:r>
              <a:rPr i="1" lang="en" sz="1300">
                <a:solidFill>
                  <a:schemeClr val="dk1"/>
                </a:solidFill>
              </a:rPr>
              <a:t>side-chain &amp; limited backbone motion allowed.</a:t>
            </a:r>
            <a:br>
              <a:rPr i="1" lang="en" sz="1300">
                <a:solidFill>
                  <a:schemeClr val="dk1"/>
                </a:solidFill>
              </a:rPr>
            </a:b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Highly flexible docking:</a:t>
            </a:r>
            <a:r>
              <a:rPr lang="en" sz="1300">
                <a:solidFill>
                  <a:schemeClr val="dk1"/>
                </a:solidFill>
              </a:rPr>
              <a:t> Rosetta FlexPepDock → </a:t>
            </a:r>
            <a:r>
              <a:rPr i="1" lang="en" sz="1300">
                <a:solidFill>
                  <a:schemeClr val="dk1"/>
                </a:solidFill>
              </a:rPr>
              <a:t>full peptide backbone flexibility.</a:t>
            </a:r>
            <a:br>
              <a:rPr i="1" lang="en" sz="1300">
                <a:solidFill>
                  <a:schemeClr val="dk1"/>
                </a:solidFill>
              </a:rPr>
            </a:b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AI docking (DiffDock):</a:t>
            </a:r>
            <a:r>
              <a:rPr lang="en" sz="1300">
                <a:solidFill>
                  <a:schemeClr val="dk1"/>
                </a:solidFill>
              </a:rPr>
              <a:t> ligand-flexible diffusion model with fixed receptor → </a:t>
            </a:r>
            <a:r>
              <a:rPr i="1" lang="en" sz="1300">
                <a:solidFill>
                  <a:schemeClr val="dk1"/>
                </a:solidFill>
              </a:rPr>
              <a:t>fast + high accuracy.</a:t>
            </a:r>
            <a:endParaRPr i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Docking metrics</a:t>
            </a:r>
            <a:endParaRPr/>
          </a:p>
        </p:txBody>
      </p:sp>
      <p:graphicFrame>
        <p:nvGraphicFramePr>
          <p:cNvPr id="111" name="Google Shape;111;p9"/>
          <p:cNvGraphicFramePr/>
          <p:nvPr/>
        </p:nvGraphicFramePr>
        <p:xfrm>
          <a:off x="311713" y="131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{9295CEF3-7272-4C98-9118-D3B95D5397D9}</a:tableStyleId>
              </a:tblPr>
              <a:tblGrid>
                <a:gridCol w="2287400"/>
                <a:gridCol w="1666375"/>
                <a:gridCol w="1433050"/>
                <a:gridCol w="1566875"/>
                <a:gridCol w="1566875"/>
              </a:tblGrid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Metric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i-RMS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L-RMS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fnat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DockQ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Units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Range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[0, 1]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[0, 1]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Description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interface rmsd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ligand (smaller protein) rmsd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Fraction of natural/native contacts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Combines iRMS, lRMS, and fnat to make robust measure of docking accuracy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9"/>
          <p:cNvSpPr/>
          <p:nvPr/>
        </p:nvSpPr>
        <p:spPr>
          <a:xfrm>
            <a:off x="4265500" y="1199063"/>
            <a:ext cx="4668300" cy="33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Docking metrics</a:t>
            </a:r>
            <a:endParaRPr/>
          </a:p>
        </p:txBody>
      </p:sp>
      <p:graphicFrame>
        <p:nvGraphicFramePr>
          <p:cNvPr id="118" name="Google Shape;118;p10"/>
          <p:cNvGraphicFramePr/>
          <p:nvPr/>
        </p:nvGraphicFramePr>
        <p:xfrm>
          <a:off x="311713" y="131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{9295CEF3-7272-4C98-9118-D3B95D5397D9}</a:tableStyleId>
              </a:tblPr>
              <a:tblGrid>
                <a:gridCol w="2287400"/>
                <a:gridCol w="1666375"/>
                <a:gridCol w="1433050"/>
                <a:gridCol w="1566875"/>
                <a:gridCol w="1566875"/>
              </a:tblGrid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Metric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i-RMS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L-RMS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fnat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DockQ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Units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Range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[0, 1]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[0, 1]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Description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interface rmsd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ligand (smaller protein) rmsd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Fraction of natural/native contacts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Combines iRMS, lRMS, and fnat to make robust measure of docking accuracy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10"/>
          <p:cNvSpPr/>
          <p:nvPr/>
        </p:nvSpPr>
        <p:spPr>
          <a:xfrm>
            <a:off x="5698550" y="1199075"/>
            <a:ext cx="3235200" cy="33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Docking metrics</a:t>
            </a:r>
            <a:endParaRPr/>
          </a:p>
        </p:txBody>
      </p:sp>
      <p:graphicFrame>
        <p:nvGraphicFramePr>
          <p:cNvPr id="125" name="Google Shape;125;p11"/>
          <p:cNvGraphicFramePr/>
          <p:nvPr/>
        </p:nvGraphicFramePr>
        <p:xfrm>
          <a:off x="311713" y="131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{9295CEF3-7272-4C98-9118-D3B95D5397D9}</a:tableStyleId>
              </a:tblPr>
              <a:tblGrid>
                <a:gridCol w="2287400"/>
                <a:gridCol w="1666375"/>
                <a:gridCol w="1433050"/>
                <a:gridCol w="1566875"/>
                <a:gridCol w="1566875"/>
              </a:tblGrid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Metric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i-RMS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L-RMS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fnat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DockQ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Units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Range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[0, 1]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[0, 1]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Description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interface rmsd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ligand (smaller protein) rmsd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Fraction of natural/native contacts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Combines iRMS, lRMS, and fnat to make robust measure of docking accuracy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11"/>
          <p:cNvSpPr/>
          <p:nvPr/>
        </p:nvSpPr>
        <p:spPr>
          <a:xfrm>
            <a:off x="7265425" y="1199075"/>
            <a:ext cx="1668300" cy="339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Docking metrics</a:t>
            </a:r>
            <a:endParaRPr/>
          </a:p>
        </p:txBody>
      </p:sp>
      <p:graphicFrame>
        <p:nvGraphicFramePr>
          <p:cNvPr id="132" name="Google Shape;132;p12"/>
          <p:cNvGraphicFramePr/>
          <p:nvPr/>
        </p:nvGraphicFramePr>
        <p:xfrm>
          <a:off x="311713" y="131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{9295CEF3-7272-4C98-9118-D3B95D5397D9}</a:tableStyleId>
              </a:tblPr>
              <a:tblGrid>
                <a:gridCol w="2287400"/>
                <a:gridCol w="1666375"/>
                <a:gridCol w="1433050"/>
                <a:gridCol w="1566875"/>
                <a:gridCol w="1566875"/>
              </a:tblGrid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Metric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i-RMS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L-RMS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fnat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DockQ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Units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</a:rPr>
                        <a:t>Å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/>
                        <a:t>--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Range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 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&gt; 0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[0, 1]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/>
                        <a:t>[0, 1]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" sz="1300" u="none" cap="none" strike="noStrike"/>
                        <a:t>Description</a:t>
                      </a:r>
                      <a:endParaRPr b="1"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interface rmsd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Measure of ligand (smaller protein) rmsd</a:t>
                      </a:r>
                      <a:endParaRPr sz="13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Fraction of natural/native contacts</a:t>
                      </a:r>
                      <a:endParaRPr sz="1300" u="none" cap="none" strike="noStrike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" sz="1300" u="none" cap="none" strike="noStrike">
                          <a:solidFill>
                            <a:schemeClr val="dk1"/>
                          </a:solidFill>
                        </a:rPr>
                        <a:t>Combines iRMS, lRMS, and fnat to make robust measure of docking accuracy</a:t>
                      </a:r>
                      <a:endParaRPr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Applications</a:t>
            </a:r>
            <a:endParaRPr/>
          </a:p>
        </p:txBody>
      </p:sp>
      <p:sp>
        <p:nvSpPr>
          <p:cNvPr id="138" name="Google Shape;13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PPI design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Docking tools can help validate designed PPIs</a:t>
            </a:r>
            <a:br>
              <a:rPr lang="en"/>
            </a:b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Applications</a:t>
            </a:r>
            <a:endParaRPr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PPI design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Docking tools can help validate designed PPIs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Scoring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Docking often has scoring components that rank poses. This can be used to score designs or even guide design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ctrTitle"/>
          </p:nvPr>
        </p:nvSpPr>
        <p:spPr>
          <a:xfrm>
            <a:off x="311708" y="12779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200"/>
              <a:t>AI Based Docking Tools</a:t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13483"/>
            <a:ext cx="9143999" cy="311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6769675" y="4716900"/>
            <a:ext cx="23742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Corso </a:t>
            </a:r>
            <a:r>
              <a:rPr b="0" i="1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al.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(2023)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Boltz -2</a:t>
            </a:r>
            <a:endParaRPr/>
          </a:p>
        </p:txBody>
      </p:sp>
      <p:pic>
        <p:nvPicPr>
          <p:cNvPr descr="A diagram of a computer program&#10;&#10;AI-generated content may be incorrect.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397" y="1187326"/>
            <a:ext cx="7371206" cy="3346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78668d680_0_9"/>
          <p:cNvSpPr txBox="1"/>
          <p:nvPr>
            <p:ph type="ctrTitle"/>
          </p:nvPr>
        </p:nvSpPr>
        <p:spPr>
          <a:xfrm>
            <a:off x="311708" y="90075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200"/>
              <a:t>Multimodal AI Design</a:t>
            </a:r>
            <a:endParaRPr sz="3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78668d680_2_3"/>
          <p:cNvSpPr txBox="1"/>
          <p:nvPr>
            <p:ph type="title"/>
          </p:nvPr>
        </p:nvSpPr>
        <p:spPr>
          <a:xfrm>
            <a:off x="161250" y="479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ESMFold – Refresher</a:t>
            </a:r>
            <a:endParaRPr/>
          </a:p>
        </p:txBody>
      </p:sp>
      <p:pic>
        <p:nvPicPr>
          <p:cNvPr id="173" name="Google Shape;173;g3a78668d680_2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200" y="1209475"/>
            <a:ext cx="8167657" cy="3453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a78668d680_2_3"/>
          <p:cNvSpPr txBox="1"/>
          <p:nvPr/>
        </p:nvSpPr>
        <p:spPr>
          <a:xfrm>
            <a:off x="7076400" y="4716900"/>
            <a:ext cx="2067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 </a:t>
            </a:r>
            <a:r>
              <a:rPr b="0" i="1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al.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(2023)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78668d680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ESM3 Multimodal Design</a:t>
            </a:r>
            <a:endParaRPr/>
          </a:p>
        </p:txBody>
      </p:sp>
      <p:pic>
        <p:nvPicPr>
          <p:cNvPr id="180" name="Google Shape;180;g3a78668d680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1625" y="1207850"/>
            <a:ext cx="603765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a78668d680_0_3"/>
          <p:cNvSpPr txBox="1"/>
          <p:nvPr/>
        </p:nvSpPr>
        <p:spPr>
          <a:xfrm>
            <a:off x="7076400" y="4716900"/>
            <a:ext cx="2067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/>
              <a:t>Hayes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al.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(202</a:t>
            </a:r>
            <a:r>
              <a:rPr lang="en" sz="1600"/>
              <a:t>4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78668d680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ESM3 Multimodal Design</a:t>
            </a:r>
            <a:endParaRPr/>
          </a:p>
        </p:txBody>
      </p:sp>
      <p:pic>
        <p:nvPicPr>
          <p:cNvPr id="187" name="Google Shape;187;g3a78668d680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375" y="1198400"/>
            <a:ext cx="6750875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a78668d680_0_13"/>
          <p:cNvSpPr txBox="1"/>
          <p:nvPr/>
        </p:nvSpPr>
        <p:spPr>
          <a:xfrm>
            <a:off x="263300" y="2078075"/>
            <a:ext cx="2548200" cy="1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216 Transformer blocks.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9" name="Google Shape;189;g3a78668d680_0_13"/>
          <p:cNvCxnSpPr/>
          <p:nvPr/>
        </p:nvCxnSpPr>
        <p:spPr>
          <a:xfrm>
            <a:off x="2125100" y="2388400"/>
            <a:ext cx="1419900" cy="4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g3a78668d680_0_13"/>
          <p:cNvSpPr txBox="1"/>
          <p:nvPr/>
        </p:nvSpPr>
        <p:spPr>
          <a:xfrm>
            <a:off x="7076400" y="4716900"/>
            <a:ext cx="2067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/>
              <a:t>Hayes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al.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(202</a:t>
            </a:r>
            <a:r>
              <a:rPr lang="en" sz="1600"/>
              <a:t>4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78668d680_0_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ESM3 Multimodal Design – </a:t>
            </a:r>
            <a:r>
              <a:rPr lang="en"/>
              <a:t>Function Prediction </a:t>
            </a:r>
            <a:endParaRPr/>
          </a:p>
        </p:txBody>
      </p:sp>
      <p:pic>
        <p:nvPicPr>
          <p:cNvPr id="196" name="Google Shape;196;g3a78668d680_0_19" title="Screenshot 2025-11-20 at 12.18.08 PM.png"/>
          <p:cNvPicPr preferRelativeResize="0"/>
          <p:nvPr/>
        </p:nvPicPr>
        <p:blipFill rotWithShape="1">
          <a:blip r:embed="rId3">
            <a:alphaModFix/>
          </a:blip>
          <a:srcRect b="0" l="1720" r="-1719" t="0"/>
          <a:stretch/>
        </p:blipFill>
        <p:spPr>
          <a:xfrm>
            <a:off x="1444425" y="1132400"/>
            <a:ext cx="711627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a78668d680_0_19"/>
          <p:cNvSpPr txBox="1"/>
          <p:nvPr/>
        </p:nvSpPr>
        <p:spPr>
          <a:xfrm>
            <a:off x="7076400" y="4716900"/>
            <a:ext cx="2067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/>
              <a:t>Hayes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al.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(202</a:t>
            </a:r>
            <a:r>
              <a:rPr lang="en" sz="1600"/>
              <a:t>4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78668d680_0_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ESM3 Multimodal Design – Design via prompting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g3a78668d680_0_32" title="Screenshot 2025-11-20 at 12.19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375" y="1188250"/>
            <a:ext cx="5454875" cy="3915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a78668d680_0_32"/>
          <p:cNvSpPr txBox="1"/>
          <p:nvPr/>
        </p:nvSpPr>
        <p:spPr>
          <a:xfrm>
            <a:off x="7076400" y="4716900"/>
            <a:ext cx="2067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/>
              <a:t>Hayes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al. 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(202</a:t>
            </a:r>
            <a:r>
              <a:rPr lang="en" sz="1600"/>
              <a:t>4</a:t>
            </a:r>
            <a:r>
              <a:rPr b="0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6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