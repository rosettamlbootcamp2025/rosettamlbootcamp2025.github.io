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Roboto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5" roundtripDataSignature="AMtx7mjwYzIS4W1Y5GLpbG36r3INrD1G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4AA04D5-9E16-4DFC-9786-A043F91E2081}">
  <a:tblStyle styleId="{E4AA04D5-9E16-4DFC-9786-A043F91E208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Mono-italic.fntdata"/><Relationship Id="rId10" Type="http://schemas.openxmlformats.org/officeDocument/2006/relationships/slide" Target="slides/slide4.xml"/><Relationship Id="rId32" Type="http://schemas.openxmlformats.org/officeDocument/2006/relationships/font" Target="fonts/RobotoMono-bold.fntdata"/><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font" Target="fonts/RobotoMon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https://www.youtube.com/watch?v=P_fHJIYENdI</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Extract evolutionary constraints</a:t>
            </a:r>
            <a:r>
              <a:rPr lang="en">
                <a:solidFill>
                  <a:schemeClr val="dk1"/>
                </a:solidFill>
              </a:rPr>
              <a:t> from MSAs</a:t>
            </a:r>
            <a:br>
              <a:rPr lang="en">
                <a:solidFill>
                  <a:schemeClr val="dk1"/>
                </a:solidFill>
              </a:rPr>
            </a:br>
            <a:r>
              <a:rPr b="1" lang="en">
                <a:solidFill>
                  <a:schemeClr val="dk1"/>
                </a:solidFill>
              </a:rPr>
              <a:t>Construct a learned pairwise geometry field</a:t>
            </a:r>
            <a:br>
              <a:rPr b="1" lang="en">
                <a:solidFill>
                  <a:schemeClr val="dk1"/>
                </a:solidFill>
              </a:rPr>
            </a:br>
            <a:r>
              <a:rPr b="1" lang="en">
                <a:solidFill>
                  <a:schemeClr val="dk1"/>
                </a:solidFill>
              </a:rPr>
              <a:t>Iteratively reason about constraints</a:t>
            </a:r>
            <a:r>
              <a:rPr lang="en">
                <a:solidFill>
                  <a:schemeClr val="dk1"/>
                </a:solidFill>
              </a:rPr>
              <a:t> via attention and triangle relations</a:t>
            </a:r>
            <a:br>
              <a:rPr lang="en">
                <a:solidFill>
                  <a:schemeClr val="dk1"/>
                </a:solidFill>
              </a:rPr>
            </a:br>
            <a:r>
              <a:rPr b="1" lang="en">
                <a:solidFill>
                  <a:schemeClr val="dk1"/>
                </a:solidFill>
              </a:rPr>
              <a:t>Convert constraints into 3D coordinates</a:t>
            </a:r>
            <a:r>
              <a:rPr lang="en">
                <a:solidFill>
                  <a:schemeClr val="dk1"/>
                </a:solidFill>
              </a:rPr>
              <a:t> with an SE(3)-aware geometric module</a:t>
            </a:r>
            <a:br>
              <a:rPr lang="en">
                <a:solidFill>
                  <a:schemeClr val="dk1"/>
                </a:solidFill>
              </a:rPr>
            </a:br>
            <a:r>
              <a:rPr b="1" lang="en">
                <a:solidFill>
                  <a:schemeClr val="dk1"/>
                </a:solidFill>
              </a:rPr>
              <a:t>Recycle predictions</a:t>
            </a:r>
            <a:r>
              <a:rPr lang="en">
                <a:solidFill>
                  <a:schemeClr val="dk1"/>
                </a:solidFill>
              </a:rPr>
              <a:t> to self-correct</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548aa6a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548aa6a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a548aa6af4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3a548aa6af4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a548aa6af4_0_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a548aa6af4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548aa6af4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a548aa6af4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548aa6af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3a548aa6af4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3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3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3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3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4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4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www.youtube.com/watch?v=wjZofJX0v4M" TargetMode="External"/><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hyperlink" Target="https://www.uniprot.org/uniprotkb" TargetMode="External"/><Relationship Id="rId5" Type="http://schemas.openxmlformats.org/officeDocument/2006/relationships/hyperlink" Target="https://www.uniprot.org/uniprotkb"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12779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AlphaFold2</a:t>
            </a:r>
            <a:br>
              <a:rPr lang="en"/>
            </a:br>
            <a:r>
              <a:rPr lang="en" sz="2000"/>
              <a:t>(And OpenFold)</a:t>
            </a:r>
            <a:endParaRPr sz="2000"/>
          </a:p>
        </p:txBody>
      </p:sp>
      <p:sp>
        <p:nvSpPr>
          <p:cNvPr id="55" name="Google Shape;55;p1"/>
          <p:cNvSpPr txBox="1"/>
          <p:nvPr>
            <p:ph idx="1" type="subTitle"/>
          </p:nvPr>
        </p:nvSpPr>
        <p:spPr>
          <a:xfrm>
            <a:off x="311700" y="3367525"/>
            <a:ext cx="8520600" cy="7926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ctr">
              <a:lnSpc>
                <a:spcPct val="100000"/>
              </a:lnSpc>
              <a:spcBef>
                <a:spcPts val="0"/>
              </a:spcBef>
              <a:spcAft>
                <a:spcPts val="0"/>
              </a:spcAft>
              <a:buSzPct val="117647"/>
              <a:buNone/>
            </a:pPr>
            <a:r>
              <a:rPr lang="en">
                <a:solidFill>
                  <a:schemeClr val="dk1"/>
                </a:solidFill>
              </a:rPr>
              <a:t>Structure Prediction</a:t>
            </a:r>
            <a:endParaRPr/>
          </a:p>
          <a:p>
            <a:pPr indent="0" lvl="0" marL="0" rtl="0" algn="ctr">
              <a:lnSpc>
                <a:spcPct val="100000"/>
              </a:lnSpc>
              <a:spcBef>
                <a:spcPts val="0"/>
              </a:spcBef>
              <a:spcAft>
                <a:spcPts val="0"/>
              </a:spcAft>
              <a:buSzPct val="117647"/>
              <a:buNone/>
            </a:pPr>
            <a:r>
              <a:rPr lang="en">
                <a:solidFill>
                  <a:schemeClr val="dk1"/>
                </a:solidFill>
              </a:rPr>
              <a:t>Ian Anderson</a:t>
            </a:r>
            <a:endParaRPr>
              <a:solidFill>
                <a:schemeClr val="dk1"/>
              </a:solidFill>
            </a:endParaRPr>
          </a:p>
        </p:txBody>
      </p:sp>
      <p:sp>
        <p:nvSpPr>
          <p:cNvPr id="56" name="Google Shape;56;p1"/>
          <p:cNvSpPr txBox="1"/>
          <p:nvPr/>
        </p:nvSpPr>
        <p:spPr>
          <a:xfrm>
            <a:off x="4914899" y="4777340"/>
            <a:ext cx="457200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550"/>
              <a:buFont typeface="Arial"/>
              <a:buNone/>
            </a:pPr>
            <a:r>
              <a:rPr b="0" i="0" lang="en" sz="1400" u="none" cap="none" strike="noStrike">
                <a:solidFill>
                  <a:srgbClr val="000000"/>
                </a:solidFill>
                <a:latin typeface="Arial"/>
                <a:ea typeface="Arial"/>
                <a:cs typeface="Arial"/>
                <a:sym typeface="Arial"/>
              </a:rPr>
              <a:t>Adapted from Nick Randolph’s 2024 Bootcamp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Introducing AlphaFold2…</a:t>
            </a:r>
            <a:endParaRPr/>
          </a:p>
        </p:txBody>
      </p:sp>
      <p:sp>
        <p:nvSpPr>
          <p:cNvPr id="62" name="Google Shape;62;p2"/>
          <p:cNvSpPr txBox="1"/>
          <p:nvPr/>
        </p:nvSpPr>
        <p:spPr>
          <a:xfrm>
            <a:off x="402138" y="1120400"/>
            <a:ext cx="8339700" cy="95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2018: 14th Critical Assessment of Protein Structure Prediction (CASP14)</a:t>
            </a:r>
            <a:endParaRPr b="0" i="0" sz="1800" u="none" cap="none" strike="noStrike">
              <a:solidFill>
                <a:schemeClr val="dk2"/>
              </a:solidFill>
              <a:latin typeface="Arial"/>
              <a:ea typeface="Arial"/>
              <a:cs typeface="Arial"/>
              <a:sym typeface="Arial"/>
            </a:endParaRPr>
          </a:p>
        </p:txBody>
      </p:sp>
      <p:pic>
        <p:nvPicPr>
          <p:cNvPr id="63" name="Google Shape;63;p2"/>
          <p:cNvPicPr preferRelativeResize="0"/>
          <p:nvPr/>
        </p:nvPicPr>
        <p:blipFill rotWithShape="1">
          <a:blip r:embed="rId3">
            <a:alphaModFix/>
          </a:blip>
          <a:srcRect b="0" l="0" r="0" t="0"/>
          <a:stretch/>
        </p:blipFill>
        <p:spPr>
          <a:xfrm>
            <a:off x="1946137" y="1599150"/>
            <a:ext cx="5251726" cy="34440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Introducing AlphaFold2…</a:t>
            </a:r>
            <a:endParaRPr/>
          </a:p>
        </p:txBody>
      </p:sp>
      <p:pic>
        <p:nvPicPr>
          <p:cNvPr id="69" name="Google Shape;69;p3"/>
          <p:cNvPicPr preferRelativeResize="0"/>
          <p:nvPr/>
        </p:nvPicPr>
        <p:blipFill rotWithShape="1">
          <a:blip r:embed="rId3">
            <a:alphaModFix/>
          </a:blip>
          <a:srcRect b="0" l="0" r="0" t="0"/>
          <a:stretch/>
        </p:blipFill>
        <p:spPr>
          <a:xfrm>
            <a:off x="0" y="1841434"/>
            <a:ext cx="9144003" cy="2821782"/>
          </a:xfrm>
          <a:prstGeom prst="rect">
            <a:avLst/>
          </a:prstGeom>
          <a:noFill/>
          <a:ln>
            <a:noFill/>
          </a:ln>
        </p:spPr>
      </p:pic>
      <p:sp>
        <p:nvSpPr>
          <p:cNvPr id="70" name="Google Shape;70;p3"/>
          <p:cNvSpPr txBox="1"/>
          <p:nvPr/>
        </p:nvSpPr>
        <p:spPr>
          <a:xfrm>
            <a:off x="492725" y="1165700"/>
            <a:ext cx="8339700" cy="95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2018: 14th Critical Assessment of Protein Structure Prediction (CASP14)</a:t>
            </a:r>
            <a:endParaRPr b="0" i="0" sz="1800" u="none" cap="none" strike="noStrike">
              <a:solidFill>
                <a:schemeClr val="dk2"/>
              </a:solidFill>
              <a:latin typeface="Arial"/>
              <a:ea typeface="Arial"/>
              <a:cs typeface="Arial"/>
              <a:sym typeface="Arial"/>
            </a:endParaRPr>
          </a:p>
        </p:txBody>
      </p:sp>
      <p:sp>
        <p:nvSpPr>
          <p:cNvPr id="71" name="Google Shape;71;p3"/>
          <p:cNvSpPr txBox="1"/>
          <p:nvPr/>
        </p:nvSpPr>
        <p:spPr>
          <a:xfrm>
            <a:off x="7076400" y="4716900"/>
            <a:ext cx="2067600" cy="426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Jumper </a:t>
            </a:r>
            <a:r>
              <a:rPr b="0" i="1" lang="en" sz="1600" u="none" cap="none" strike="noStrike">
                <a:solidFill>
                  <a:schemeClr val="dk1"/>
                </a:solidFill>
                <a:latin typeface="Arial"/>
                <a:ea typeface="Arial"/>
                <a:cs typeface="Arial"/>
                <a:sym typeface="Arial"/>
              </a:rPr>
              <a:t>et al. </a:t>
            </a:r>
            <a:r>
              <a:rPr b="0" i="0" lang="en" sz="1600" u="none" cap="none" strike="noStrike">
                <a:solidFill>
                  <a:schemeClr val="dk1"/>
                </a:solidFill>
                <a:latin typeface="Arial"/>
                <a:ea typeface="Arial"/>
                <a:cs typeface="Arial"/>
                <a:sym typeface="Arial"/>
              </a:rPr>
              <a:t>(2021)</a:t>
            </a:r>
            <a:endParaRPr b="0" i="0" sz="1600" u="none" cap="none" strike="noStrike">
              <a:solidFill>
                <a:schemeClr val="dk2"/>
              </a:solidFill>
              <a:latin typeface="Arial"/>
              <a:ea typeface="Arial"/>
              <a:cs typeface="Arial"/>
              <a:sym typeface="Arial"/>
            </a:endParaRPr>
          </a:p>
        </p:txBody>
      </p:sp>
      <p:sp>
        <p:nvSpPr>
          <p:cNvPr id="72" name="Google Shape;72;p3"/>
          <p:cNvSpPr/>
          <p:nvPr/>
        </p:nvSpPr>
        <p:spPr>
          <a:xfrm>
            <a:off x="2288525" y="1841425"/>
            <a:ext cx="6855600" cy="2651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
          <p:cNvSpPr/>
          <p:nvPr/>
        </p:nvSpPr>
        <p:spPr>
          <a:xfrm>
            <a:off x="0" y="1930100"/>
            <a:ext cx="210000" cy="1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Introducing AlphaFold2…</a:t>
            </a:r>
            <a:endParaRPr/>
          </a:p>
        </p:txBody>
      </p:sp>
      <p:pic>
        <p:nvPicPr>
          <p:cNvPr id="79" name="Google Shape;79;p4"/>
          <p:cNvPicPr preferRelativeResize="0"/>
          <p:nvPr/>
        </p:nvPicPr>
        <p:blipFill rotWithShape="1">
          <a:blip r:embed="rId3">
            <a:alphaModFix/>
          </a:blip>
          <a:srcRect b="0" l="0" r="0" t="0"/>
          <a:stretch/>
        </p:blipFill>
        <p:spPr>
          <a:xfrm>
            <a:off x="0" y="1841434"/>
            <a:ext cx="9144003" cy="2821782"/>
          </a:xfrm>
          <a:prstGeom prst="rect">
            <a:avLst/>
          </a:prstGeom>
          <a:noFill/>
          <a:ln>
            <a:noFill/>
          </a:ln>
        </p:spPr>
      </p:pic>
      <p:sp>
        <p:nvSpPr>
          <p:cNvPr id="80" name="Google Shape;80;p4"/>
          <p:cNvSpPr txBox="1"/>
          <p:nvPr/>
        </p:nvSpPr>
        <p:spPr>
          <a:xfrm>
            <a:off x="492725" y="1165700"/>
            <a:ext cx="8339700" cy="95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2018: 14th Critical Assessment of Protein Structure Prediction (CASP14)</a:t>
            </a:r>
            <a:endParaRPr b="0" i="0" sz="1800" u="none" cap="none" strike="noStrike">
              <a:solidFill>
                <a:schemeClr val="dk2"/>
              </a:solidFill>
              <a:latin typeface="Arial"/>
              <a:ea typeface="Arial"/>
              <a:cs typeface="Arial"/>
              <a:sym typeface="Arial"/>
            </a:endParaRPr>
          </a:p>
        </p:txBody>
      </p:sp>
      <p:sp>
        <p:nvSpPr>
          <p:cNvPr id="81" name="Google Shape;81;p4"/>
          <p:cNvSpPr/>
          <p:nvPr/>
        </p:nvSpPr>
        <p:spPr>
          <a:xfrm>
            <a:off x="0" y="1930100"/>
            <a:ext cx="210000" cy="1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4"/>
          <p:cNvSpPr/>
          <p:nvPr/>
        </p:nvSpPr>
        <p:spPr>
          <a:xfrm>
            <a:off x="2270975" y="1930100"/>
            <a:ext cx="210000" cy="1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4"/>
          <p:cNvSpPr/>
          <p:nvPr/>
        </p:nvSpPr>
        <p:spPr>
          <a:xfrm>
            <a:off x="4362000" y="1930100"/>
            <a:ext cx="210000" cy="1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4"/>
          <p:cNvSpPr/>
          <p:nvPr/>
        </p:nvSpPr>
        <p:spPr>
          <a:xfrm>
            <a:off x="6858250" y="1930100"/>
            <a:ext cx="210000" cy="1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
          <p:cNvSpPr txBox="1"/>
          <p:nvPr/>
        </p:nvSpPr>
        <p:spPr>
          <a:xfrm>
            <a:off x="7076400" y="4716900"/>
            <a:ext cx="2067600" cy="426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Jumper </a:t>
            </a:r>
            <a:r>
              <a:rPr b="0" i="1" lang="en" sz="1600" u="none" cap="none" strike="noStrike">
                <a:solidFill>
                  <a:schemeClr val="dk1"/>
                </a:solidFill>
                <a:latin typeface="Arial"/>
                <a:ea typeface="Arial"/>
                <a:cs typeface="Arial"/>
                <a:sym typeface="Arial"/>
              </a:rPr>
              <a:t>et al. </a:t>
            </a:r>
            <a:r>
              <a:rPr b="0" i="0" lang="en" sz="1600" u="none" cap="none" strike="noStrike">
                <a:solidFill>
                  <a:schemeClr val="dk1"/>
                </a:solidFill>
                <a:latin typeface="Arial"/>
                <a:ea typeface="Arial"/>
                <a:cs typeface="Arial"/>
                <a:sym typeface="Arial"/>
              </a:rPr>
              <a:t>(2021)</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AlphaFold2 vs OpenFold</a:t>
            </a:r>
            <a:endParaRPr/>
          </a:p>
        </p:txBody>
      </p:sp>
      <p:sp>
        <p:nvSpPr>
          <p:cNvPr id="91" name="Google Shape;91;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Faithful but trainable reproduction of AlphaFold2</a:t>
            </a:r>
            <a:endParaRPr/>
          </a:p>
          <a:p>
            <a:pPr indent="0" lvl="0" marL="0" rtl="0" algn="l">
              <a:lnSpc>
                <a:spcPct val="115000"/>
              </a:lnSpc>
              <a:spcBef>
                <a:spcPts val="1200"/>
              </a:spcBef>
              <a:spcAft>
                <a:spcPts val="0"/>
              </a:spcAft>
              <a:buSzPts val="1800"/>
              <a:buNone/>
            </a:pPr>
            <a:r>
              <a:rPr lang="en"/>
              <a:t>Major differences:</a:t>
            </a:r>
            <a:endParaRPr/>
          </a:p>
          <a:p>
            <a:pPr indent="-298450" lvl="0" marL="457200" rtl="0" algn="l">
              <a:lnSpc>
                <a:spcPct val="115000"/>
              </a:lnSpc>
              <a:spcBef>
                <a:spcPts val="1200"/>
              </a:spcBef>
              <a:spcAft>
                <a:spcPts val="0"/>
              </a:spcAft>
              <a:buClr>
                <a:schemeClr val="dk1"/>
              </a:buClr>
              <a:buSzPts val="1100"/>
              <a:buChar char="●"/>
            </a:pPr>
            <a:r>
              <a:rPr lang="en"/>
              <a:t>OpenFold runs between three and five times faster for most proteins</a:t>
            </a:r>
            <a:endParaRPr/>
          </a:p>
          <a:p>
            <a:pPr indent="-298450" lvl="0" marL="457200" rtl="0" algn="l">
              <a:lnSpc>
                <a:spcPct val="115000"/>
              </a:lnSpc>
              <a:spcBef>
                <a:spcPts val="0"/>
              </a:spcBef>
              <a:spcAft>
                <a:spcPts val="0"/>
              </a:spcAft>
              <a:buClr>
                <a:schemeClr val="dk1"/>
              </a:buClr>
              <a:buSzPts val="1100"/>
              <a:buChar char="●"/>
            </a:pPr>
            <a:r>
              <a:rPr lang="en"/>
              <a:t>OpenFold it uses less memory, allowing prediction of extremely long proteins and multi-protein complexes on a single graphics processing unit (GPU)</a:t>
            </a:r>
            <a:endParaRPr/>
          </a:p>
          <a:p>
            <a:pPr indent="-298450" lvl="0" marL="457200" rtl="0" algn="l">
              <a:lnSpc>
                <a:spcPct val="115000"/>
              </a:lnSpc>
              <a:spcBef>
                <a:spcPts val="0"/>
              </a:spcBef>
              <a:spcAft>
                <a:spcPts val="0"/>
              </a:spcAft>
              <a:buClr>
                <a:schemeClr val="dk1"/>
              </a:buClr>
              <a:buSzPts val="1100"/>
              <a:buChar char="●"/>
            </a:pPr>
            <a:r>
              <a:rPr lang="en"/>
              <a:t>OpenFold is implemented in PyTorch, the most widely used machine learning framework; AlphaFold2 uses JAX.</a:t>
            </a:r>
            <a:endParaRPr/>
          </a:p>
        </p:txBody>
      </p:sp>
      <p:sp>
        <p:nvSpPr>
          <p:cNvPr id="92" name="Google Shape;92;p5"/>
          <p:cNvSpPr txBox="1"/>
          <p:nvPr/>
        </p:nvSpPr>
        <p:spPr>
          <a:xfrm>
            <a:off x="7076400" y="4703625"/>
            <a:ext cx="2067600" cy="426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Ahdritz </a:t>
            </a:r>
            <a:r>
              <a:rPr b="0" i="1" lang="en" sz="1600" u="none" cap="none" strike="noStrike">
                <a:solidFill>
                  <a:schemeClr val="dk1"/>
                </a:solidFill>
                <a:latin typeface="Arial"/>
                <a:ea typeface="Arial"/>
                <a:cs typeface="Arial"/>
                <a:sym typeface="Arial"/>
              </a:rPr>
              <a:t>et al. </a:t>
            </a:r>
            <a:r>
              <a:rPr b="0" i="0" lang="en" sz="1600" u="none" cap="none" strike="noStrike">
                <a:solidFill>
                  <a:schemeClr val="dk1"/>
                </a:solidFill>
                <a:latin typeface="Arial"/>
                <a:ea typeface="Arial"/>
                <a:cs typeface="Arial"/>
                <a:sym typeface="Arial"/>
              </a:rPr>
              <a:t>(2024)</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Overview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Inputs and Outputs</a:t>
            </a:r>
            <a:endParaRPr/>
          </a:p>
        </p:txBody>
      </p:sp>
      <p:pic>
        <p:nvPicPr>
          <p:cNvPr id="103" name="Google Shape;103;p7"/>
          <p:cNvPicPr preferRelativeResize="0"/>
          <p:nvPr/>
        </p:nvPicPr>
        <p:blipFill rotWithShape="1">
          <a:blip r:embed="rId3">
            <a:alphaModFix/>
          </a:blip>
          <a:srcRect b="0" l="0" r="0" t="0"/>
          <a:stretch/>
        </p:blipFill>
        <p:spPr>
          <a:xfrm>
            <a:off x="0" y="1228818"/>
            <a:ext cx="9144000" cy="30944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Under the Hood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AlphaFold2 Overview</a:t>
            </a:r>
            <a:endParaRPr/>
          </a:p>
        </p:txBody>
      </p:sp>
      <p:pic>
        <p:nvPicPr>
          <p:cNvPr id="114" name="Google Shape;114;p9"/>
          <p:cNvPicPr preferRelativeResize="0"/>
          <p:nvPr/>
        </p:nvPicPr>
        <p:blipFill rotWithShape="1">
          <a:blip r:embed="rId3">
            <a:alphaModFix/>
          </a:blip>
          <a:srcRect b="0" l="0" r="0" t="0"/>
          <a:stretch/>
        </p:blipFill>
        <p:spPr>
          <a:xfrm>
            <a:off x="0" y="1331572"/>
            <a:ext cx="9144003" cy="3129856"/>
          </a:xfrm>
          <a:prstGeom prst="rect">
            <a:avLst/>
          </a:prstGeom>
          <a:noFill/>
          <a:ln>
            <a:noFill/>
          </a:ln>
        </p:spPr>
      </p:pic>
      <p:sp>
        <p:nvSpPr>
          <p:cNvPr id="115" name="Google Shape;115;p9"/>
          <p:cNvSpPr/>
          <p:nvPr/>
        </p:nvSpPr>
        <p:spPr>
          <a:xfrm>
            <a:off x="0" y="1229625"/>
            <a:ext cx="912300" cy="40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txBox="1"/>
          <p:nvPr/>
        </p:nvSpPr>
        <p:spPr>
          <a:xfrm>
            <a:off x="7076400" y="4716900"/>
            <a:ext cx="2067600" cy="426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Jumper </a:t>
            </a:r>
            <a:r>
              <a:rPr b="0" i="1" lang="en" sz="1600" u="none" cap="none" strike="noStrike">
                <a:solidFill>
                  <a:schemeClr val="dk1"/>
                </a:solidFill>
                <a:latin typeface="Arial"/>
                <a:ea typeface="Arial"/>
                <a:cs typeface="Arial"/>
                <a:sym typeface="Arial"/>
              </a:rPr>
              <a:t>et al. </a:t>
            </a:r>
            <a:r>
              <a:rPr b="0" i="0" lang="en" sz="1600" u="none" cap="none" strike="noStrike">
                <a:solidFill>
                  <a:schemeClr val="dk1"/>
                </a:solidFill>
                <a:latin typeface="Arial"/>
                <a:ea typeface="Arial"/>
                <a:cs typeface="Arial"/>
                <a:sym typeface="Arial"/>
              </a:rPr>
              <a:t>(2021)</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descr="Breaking down how Large Language Models work&#10;Instead of sponsored ad reads, these lessons are funded directly by viewers: https://3b1b.co/support&#10;&#10;---&#10;&#10;Here are a few other relevant resources&#10;&#10;Build a GPT from scratch, by Andrej Karpathy&#10;https://youtu.be/kCc8FmEb1nY&#10;&#10;If you want a conceptual understanding of language models from the ground up, @vcubingx just started a short series of videos on the topic:&#10;https://youtu.be/1il-s4mgNdI?si=XaVxj6bsdy3VkgEX&#10;&#10;If you're interested in the herculean task of interpreting what these large networks might actually be doing, the Transformer Circuits posts by Anthropic are great. In particular, it was only after reading one of these that I started thinking of the combination of the value and output matrices as being a combined low-rank map from the embedding space to itself, which, at least in my mind, made things much clearer than other sources.&#10;https://transformer-circuits.pub/2021/framework/index.html&#10;&#10;Site with exercises related to ML programming and GPTs&#10;https://www.gptandchill.ai/codingproblems&#10;&#10;History of language models by Brit Cruise,  @ArtOfTheProblem  &#10;https://youtu.be/OFS90-FX6pg&#10;&#10;An early paper on how directions in embedding spaces have meaning:&#10;https://arxiv.org/pdf/1301.3781.pdf&#10;&#10;---&#10;&#10;Timestamps&#10;&#10;0:00 - Predict, sample, repeat&#10;3:03 - Inside a transformer&#10;6:36 - Chapter layout&#10;7:20 - The premise of Deep Learning&#10;12:27 - Word embeddings&#10;18:25 - Embeddings beyond words&#10;20:22 - Unembedding&#10;22:22 - Softmax with temperature&#10;26:03 - Up next" id="121" name="Google Shape;121;p10" title="How large language models work, a visual intro to transformers | Chapter 5, Deep Learning">
            <a:hlinkClick r:id="rId3"/>
          </p:cNvPr>
          <p:cNvPicPr preferRelativeResize="0"/>
          <p:nvPr/>
        </p:nvPicPr>
        <p:blipFill rotWithShape="1">
          <a:blip r:embed="rId4">
            <a:alphaModFix/>
          </a:blip>
          <a:srcRect b="0" l="0" r="0" t="0"/>
          <a:stretch/>
        </p:blipFill>
        <p:spPr>
          <a:xfrm>
            <a:off x="-81643" y="0"/>
            <a:ext cx="9144006"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AlphaFold2 Overview</a:t>
            </a:r>
            <a:endParaRPr/>
          </a:p>
        </p:txBody>
      </p:sp>
      <p:pic>
        <p:nvPicPr>
          <p:cNvPr id="127" name="Google Shape;127;p11"/>
          <p:cNvPicPr preferRelativeResize="0"/>
          <p:nvPr/>
        </p:nvPicPr>
        <p:blipFill rotWithShape="1">
          <a:blip r:embed="rId3">
            <a:alphaModFix/>
          </a:blip>
          <a:srcRect b="0" l="0" r="0" t="0"/>
          <a:stretch/>
        </p:blipFill>
        <p:spPr>
          <a:xfrm>
            <a:off x="0" y="1331572"/>
            <a:ext cx="9144003" cy="3129856"/>
          </a:xfrm>
          <a:prstGeom prst="rect">
            <a:avLst/>
          </a:prstGeom>
          <a:noFill/>
          <a:ln>
            <a:noFill/>
          </a:ln>
        </p:spPr>
      </p:pic>
      <p:sp>
        <p:nvSpPr>
          <p:cNvPr id="128" name="Google Shape;128;p11"/>
          <p:cNvSpPr/>
          <p:nvPr/>
        </p:nvSpPr>
        <p:spPr>
          <a:xfrm>
            <a:off x="0" y="1229625"/>
            <a:ext cx="912300" cy="40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1"/>
          <p:cNvSpPr txBox="1"/>
          <p:nvPr/>
        </p:nvSpPr>
        <p:spPr>
          <a:xfrm>
            <a:off x="7076400" y="4716900"/>
            <a:ext cx="2067600" cy="426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Jumper </a:t>
            </a:r>
            <a:r>
              <a:rPr b="0" i="1" lang="en" sz="1600" u="none" cap="none" strike="noStrike">
                <a:solidFill>
                  <a:schemeClr val="dk1"/>
                </a:solidFill>
                <a:latin typeface="Arial"/>
                <a:ea typeface="Arial"/>
                <a:cs typeface="Arial"/>
                <a:sym typeface="Arial"/>
              </a:rPr>
              <a:t>et al. </a:t>
            </a:r>
            <a:r>
              <a:rPr b="0" i="0" lang="en" sz="1600" u="none" cap="none" strike="noStrike">
                <a:solidFill>
                  <a:schemeClr val="dk1"/>
                </a:solidFill>
                <a:latin typeface="Arial"/>
                <a:ea typeface="Arial"/>
                <a:cs typeface="Arial"/>
                <a:sym typeface="Arial"/>
              </a:rPr>
              <a:t>(2021)</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SE(3) Symmetries</a:t>
            </a:r>
            <a:endParaRPr/>
          </a:p>
        </p:txBody>
      </p:sp>
      <p:sp>
        <p:nvSpPr>
          <p:cNvPr id="135" name="Google Shape;135;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If you rotate or translate a protein,</a:t>
            </a:r>
            <a:endParaRPr/>
          </a:p>
          <a:p>
            <a:pPr indent="-342900" lvl="0" marL="457200" rtl="0" algn="l">
              <a:lnSpc>
                <a:spcPct val="115000"/>
              </a:lnSpc>
              <a:spcBef>
                <a:spcPts val="1200"/>
              </a:spcBef>
              <a:spcAft>
                <a:spcPts val="0"/>
              </a:spcAft>
              <a:buSzPts val="1800"/>
              <a:buChar char="●"/>
            </a:pPr>
            <a:r>
              <a:rPr lang="en"/>
              <a:t>it's the same protein, so the fact that it is a protein is </a:t>
            </a:r>
            <a:r>
              <a:rPr b="1" i="1" lang="en"/>
              <a:t>invariant</a:t>
            </a:r>
            <a:r>
              <a:rPr b="1" lang="en"/>
              <a:t> </a:t>
            </a:r>
            <a:r>
              <a:rPr lang="en"/>
              <a:t>to global rigid transformations.</a:t>
            </a:r>
            <a:endParaRPr/>
          </a:p>
          <a:p>
            <a:pPr indent="-342900" lvl="0" marL="457200" rtl="0" algn="l">
              <a:lnSpc>
                <a:spcPct val="115000"/>
              </a:lnSpc>
              <a:spcBef>
                <a:spcPts val="0"/>
              </a:spcBef>
              <a:spcAft>
                <a:spcPts val="0"/>
              </a:spcAft>
              <a:buSzPts val="1800"/>
              <a:buChar char="●"/>
            </a:pPr>
            <a:r>
              <a:rPr lang="en"/>
              <a:t>the coordinates are now in a different location but one that depends on the rotation and translation. So we say the coordinates are </a:t>
            </a:r>
            <a:r>
              <a:rPr b="1" i="1" lang="en"/>
              <a:t>equivariant</a:t>
            </a:r>
            <a:r>
              <a:rPr lang="en"/>
              <a:t> to global rigid transformations.</a:t>
            </a:r>
            <a:endParaRPr/>
          </a:p>
          <a:p>
            <a:pPr indent="457200" lvl="0" marL="914400" rtl="0" algn="l">
              <a:lnSpc>
                <a:spcPct val="115000"/>
              </a:lnSpc>
              <a:spcBef>
                <a:spcPts val="1200"/>
              </a:spcBef>
              <a:spcAft>
                <a:spcPts val="0"/>
              </a:spcAft>
              <a:buSzPts val="1800"/>
              <a:buNone/>
            </a:pPr>
            <a:r>
              <a:rPr lang="en"/>
              <a:t>Invariance: </a:t>
            </a:r>
            <a:br>
              <a:rPr lang="en"/>
            </a:br>
            <a:br>
              <a:rPr lang="en"/>
            </a:br>
            <a:endParaRPr/>
          </a:p>
          <a:p>
            <a:pPr indent="457200" lvl="0" marL="914400" rtl="0" algn="l">
              <a:lnSpc>
                <a:spcPct val="115000"/>
              </a:lnSpc>
              <a:spcBef>
                <a:spcPts val="1200"/>
              </a:spcBef>
              <a:spcAft>
                <a:spcPts val="1200"/>
              </a:spcAft>
              <a:buSzPts val="1800"/>
              <a:buNone/>
            </a:pPr>
            <a:r>
              <a:rPr lang="en"/>
              <a:t>Equivariance: </a:t>
            </a:r>
            <a:endParaRPr/>
          </a:p>
        </p:txBody>
      </p:sp>
      <p:pic>
        <p:nvPicPr>
          <p:cNvPr id="136" name="Google Shape;136;p16"/>
          <p:cNvPicPr preferRelativeResize="0"/>
          <p:nvPr/>
        </p:nvPicPr>
        <p:blipFill rotWithShape="1">
          <a:blip r:embed="rId3">
            <a:alphaModFix/>
          </a:blip>
          <a:srcRect b="65642" l="0" r="21154" t="0"/>
          <a:stretch/>
        </p:blipFill>
        <p:spPr>
          <a:xfrm>
            <a:off x="3626663" y="3332725"/>
            <a:ext cx="1890675" cy="572700"/>
          </a:xfrm>
          <a:prstGeom prst="rect">
            <a:avLst/>
          </a:prstGeom>
          <a:noFill/>
          <a:ln>
            <a:noFill/>
          </a:ln>
        </p:spPr>
      </p:pic>
      <p:pic>
        <p:nvPicPr>
          <p:cNvPr id="137" name="Google Shape;137;p16"/>
          <p:cNvPicPr preferRelativeResize="0"/>
          <p:nvPr/>
        </p:nvPicPr>
        <p:blipFill rotWithShape="1">
          <a:blip r:embed="rId3">
            <a:alphaModFix/>
          </a:blip>
          <a:srcRect b="0" l="0" r="0" t="71187"/>
          <a:stretch/>
        </p:blipFill>
        <p:spPr>
          <a:xfrm>
            <a:off x="3373000" y="4374800"/>
            <a:ext cx="2398000" cy="480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Extensions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AlphaFold2-Multimer</a:t>
            </a:r>
            <a:endParaRPr/>
          </a:p>
        </p:txBody>
      </p:sp>
      <p:sp>
        <p:nvSpPr>
          <p:cNvPr id="148" name="Google Shape;148;p24"/>
          <p:cNvSpPr txBox="1"/>
          <p:nvPr>
            <p:ph idx="1" type="body"/>
          </p:nvPr>
        </p:nvSpPr>
        <p:spPr>
          <a:xfrm>
            <a:off x="311700" y="1152475"/>
            <a:ext cx="44322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Losses to take into account permutation symmetry among identical chains</a:t>
            </a:r>
            <a:endParaRPr/>
          </a:p>
          <a:p>
            <a:pPr indent="-342900" lvl="0" marL="457200" rtl="0" algn="l">
              <a:lnSpc>
                <a:spcPct val="115000"/>
              </a:lnSpc>
              <a:spcBef>
                <a:spcPts val="0"/>
              </a:spcBef>
              <a:spcAft>
                <a:spcPts val="0"/>
              </a:spcAft>
              <a:buSzPts val="1800"/>
              <a:buChar char="●"/>
            </a:pPr>
            <a:r>
              <a:rPr lang="en"/>
              <a:t>Pair the MSA alignments between individual chains for cross-chain genetic information</a:t>
            </a:r>
            <a:endParaRPr/>
          </a:p>
          <a:p>
            <a:pPr indent="-342900" lvl="0" marL="457200" rtl="0" algn="l">
              <a:lnSpc>
                <a:spcPct val="115000"/>
              </a:lnSpc>
              <a:spcBef>
                <a:spcPts val="0"/>
              </a:spcBef>
              <a:spcAft>
                <a:spcPts val="0"/>
              </a:spcAft>
              <a:buSzPts val="1800"/>
              <a:buChar char="●"/>
            </a:pPr>
            <a:r>
              <a:rPr lang="en"/>
              <a:t>New way of selecting subsets of residues for training</a:t>
            </a:r>
            <a:endParaRPr/>
          </a:p>
          <a:p>
            <a:pPr indent="-342900" lvl="0" marL="457200" rtl="0" algn="l">
              <a:lnSpc>
                <a:spcPct val="115000"/>
              </a:lnSpc>
              <a:spcBef>
                <a:spcPts val="0"/>
              </a:spcBef>
              <a:spcAft>
                <a:spcPts val="0"/>
              </a:spcAft>
              <a:buSzPts val="1800"/>
              <a:buChar char="●"/>
            </a:pPr>
            <a:r>
              <a:rPr lang="en"/>
              <a:t>Various small adjustments to the structure losses and the model architecture</a:t>
            </a:r>
            <a:endParaRPr/>
          </a:p>
        </p:txBody>
      </p:sp>
      <p:pic>
        <p:nvPicPr>
          <p:cNvPr id="149" name="Google Shape;149;p24"/>
          <p:cNvPicPr preferRelativeResize="0"/>
          <p:nvPr/>
        </p:nvPicPr>
        <p:blipFill rotWithShape="1">
          <a:blip r:embed="rId3">
            <a:alphaModFix/>
          </a:blip>
          <a:srcRect b="0" l="0" r="0" t="0"/>
          <a:stretch/>
        </p:blipFill>
        <p:spPr>
          <a:xfrm>
            <a:off x="4688002" y="178027"/>
            <a:ext cx="3759150" cy="4601525"/>
          </a:xfrm>
          <a:prstGeom prst="rect">
            <a:avLst/>
          </a:prstGeom>
          <a:noFill/>
          <a:ln>
            <a:noFill/>
          </a:ln>
        </p:spPr>
      </p:pic>
      <p:sp>
        <p:nvSpPr>
          <p:cNvPr id="150" name="Google Shape;150;p24"/>
          <p:cNvSpPr txBox="1"/>
          <p:nvPr/>
        </p:nvSpPr>
        <p:spPr>
          <a:xfrm>
            <a:off x="7076400" y="4716900"/>
            <a:ext cx="2067600" cy="426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Evans </a:t>
            </a:r>
            <a:r>
              <a:rPr b="0" i="1" lang="en" sz="1600" u="none" cap="none" strike="noStrike">
                <a:solidFill>
                  <a:schemeClr val="dk1"/>
                </a:solidFill>
                <a:latin typeface="Arial"/>
                <a:ea typeface="Arial"/>
                <a:cs typeface="Arial"/>
                <a:sym typeface="Arial"/>
              </a:rPr>
              <a:t>et al. </a:t>
            </a:r>
            <a:r>
              <a:rPr b="0" i="0" lang="en" sz="1600" u="none" cap="none" strike="noStrike">
                <a:solidFill>
                  <a:schemeClr val="dk1"/>
                </a:solidFill>
                <a:latin typeface="Arial"/>
                <a:ea typeface="Arial"/>
                <a:cs typeface="Arial"/>
                <a:sym typeface="Arial"/>
              </a:rPr>
              <a:t>(2021)</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AlphaFoldDB</a:t>
            </a:r>
            <a:endParaRPr/>
          </a:p>
        </p:txBody>
      </p:sp>
      <p:pic>
        <p:nvPicPr>
          <p:cNvPr id="156" name="Google Shape;156;p25"/>
          <p:cNvPicPr preferRelativeResize="0"/>
          <p:nvPr/>
        </p:nvPicPr>
        <p:blipFill rotWithShape="1">
          <a:blip r:embed="rId3">
            <a:alphaModFix/>
          </a:blip>
          <a:srcRect b="0" l="0" r="0" t="0"/>
          <a:stretch/>
        </p:blipFill>
        <p:spPr>
          <a:xfrm>
            <a:off x="714800" y="1000150"/>
            <a:ext cx="7714400" cy="3143200"/>
          </a:xfrm>
          <a:prstGeom prst="rect">
            <a:avLst/>
          </a:prstGeom>
          <a:noFill/>
          <a:ln>
            <a:noFill/>
          </a:ln>
        </p:spPr>
      </p:pic>
      <p:sp>
        <p:nvSpPr>
          <p:cNvPr id="157" name="Google Shape;157;p25"/>
          <p:cNvSpPr txBox="1"/>
          <p:nvPr/>
        </p:nvSpPr>
        <p:spPr>
          <a:xfrm>
            <a:off x="243600" y="4237200"/>
            <a:ext cx="8656800" cy="7941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120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The latest database release contains over 200 million entries, providing broad coverage of</a:t>
            </a:r>
            <a:r>
              <a:rPr b="0" i="0" lang="en" sz="1200" u="none" cap="none" strike="noStrike">
                <a:solidFill>
                  <a:schemeClr val="dk1"/>
                </a:solidFill>
                <a:uFill>
                  <a:noFill/>
                </a:uFill>
                <a:latin typeface="Arial"/>
                <a:ea typeface="Arial"/>
                <a:cs typeface="Arial"/>
                <a:sym typeface="Arial"/>
                <a:hlinkClick r:id="rId4">
                  <a:extLst>
                    <a:ext uri="{A12FA001-AC4F-418D-AE19-62706E023703}">
                      <ahyp:hlinkClr val="tx"/>
                    </a:ext>
                  </a:extLst>
                </a:hlinkClick>
              </a:rPr>
              <a:t> </a:t>
            </a:r>
            <a:r>
              <a:rPr b="0" i="0" lang="en" sz="1200" u="sng" cap="none" strike="noStrike">
                <a:solidFill>
                  <a:schemeClr val="hlink"/>
                </a:solidFill>
                <a:latin typeface="Arial"/>
                <a:ea typeface="Arial"/>
                <a:cs typeface="Arial"/>
                <a:sym typeface="Arial"/>
                <a:hlinkClick r:id="rId5"/>
              </a:rPr>
              <a:t>UniProt</a:t>
            </a:r>
            <a:r>
              <a:rPr b="0" i="0" lang="en" sz="1200" u="none" cap="none" strike="noStrike">
                <a:solidFill>
                  <a:schemeClr val="dk1"/>
                </a:solidFill>
                <a:latin typeface="Arial"/>
                <a:ea typeface="Arial"/>
                <a:cs typeface="Arial"/>
                <a:sym typeface="Arial"/>
              </a:rPr>
              <a:t> (the standard repository of protein sequences and annotations).</a:t>
            </a:r>
            <a:endParaRPr b="0" i="0" sz="1200" u="none" cap="none" strike="noStrike">
              <a:solidFill>
                <a:schemeClr val="dk1"/>
              </a:solidFill>
              <a:latin typeface="Arial"/>
              <a:ea typeface="Arial"/>
              <a:cs typeface="Arial"/>
              <a:sym typeface="Arial"/>
            </a:endParaRPr>
          </a:p>
          <a:p>
            <a:pPr indent="-304800" lvl="0" marL="457200" marR="0" rtl="0" algn="l">
              <a:lnSpc>
                <a:spcPct val="115000"/>
              </a:lnSpc>
              <a:spcBef>
                <a:spcPts val="0"/>
              </a:spcBef>
              <a:spcAft>
                <a:spcPts val="0"/>
              </a:spcAft>
              <a:buClr>
                <a:schemeClr val="dk1"/>
              </a:buClr>
              <a:buSzPts val="1200"/>
              <a:buFont typeface="Arial"/>
              <a:buChar char="●"/>
            </a:pPr>
            <a:r>
              <a:rPr b="0" i="0" lang="en" sz="1200" u="none" cap="none" strike="noStrike">
                <a:solidFill>
                  <a:schemeClr val="dk1"/>
                </a:solidFill>
                <a:latin typeface="Arial"/>
                <a:ea typeface="Arial"/>
                <a:cs typeface="Arial"/>
                <a:sym typeface="Arial"/>
              </a:rPr>
              <a:t>Includes entire human proteome and the proteomes of 47 other key organisms</a:t>
            </a:r>
            <a:endParaRPr b="0" i="0" sz="1200" u="none" cap="none" strike="noStrike">
              <a:solidFill>
                <a:schemeClr val="dk1"/>
              </a:solidFill>
              <a:latin typeface="Arial"/>
              <a:ea typeface="Arial"/>
              <a:cs typeface="Arial"/>
              <a:sym typeface="Arial"/>
            </a:endParaRPr>
          </a:p>
        </p:txBody>
      </p:sp>
      <p:sp>
        <p:nvSpPr>
          <p:cNvPr id="158" name="Google Shape;158;p25"/>
          <p:cNvSpPr txBox="1"/>
          <p:nvPr/>
        </p:nvSpPr>
        <p:spPr>
          <a:xfrm>
            <a:off x="7076400" y="4716900"/>
            <a:ext cx="2067600" cy="426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Varadi </a:t>
            </a:r>
            <a:r>
              <a:rPr b="0" i="1" lang="en" sz="1600" u="none" cap="none" strike="noStrike">
                <a:solidFill>
                  <a:schemeClr val="dk1"/>
                </a:solidFill>
                <a:latin typeface="Arial"/>
                <a:ea typeface="Arial"/>
                <a:cs typeface="Arial"/>
                <a:sym typeface="Arial"/>
              </a:rPr>
              <a:t>et al. </a:t>
            </a:r>
            <a:r>
              <a:rPr b="0" i="0" lang="en" sz="1600" u="none" cap="none" strike="noStrike">
                <a:solidFill>
                  <a:schemeClr val="dk1"/>
                </a:solidFill>
                <a:latin typeface="Arial"/>
                <a:ea typeface="Arial"/>
                <a:cs typeface="Arial"/>
                <a:sym typeface="Arial"/>
              </a:rPr>
              <a:t>(2022)</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AFsample</a:t>
            </a:r>
            <a:endParaRPr/>
          </a:p>
        </p:txBody>
      </p:sp>
      <p:sp>
        <p:nvSpPr>
          <p:cNvPr id="164" name="Google Shape;164;p26"/>
          <p:cNvSpPr txBox="1"/>
          <p:nvPr>
            <p:ph idx="1" type="body"/>
          </p:nvPr>
        </p:nvSpPr>
        <p:spPr>
          <a:xfrm>
            <a:off x="311700" y="1152475"/>
            <a:ext cx="42378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Large-scale prediction of AF2-Multimer with the settings:</a:t>
            </a:r>
            <a:endParaRPr/>
          </a:p>
          <a:p>
            <a:pPr indent="-342900" lvl="0" marL="457200" rtl="0" algn="l">
              <a:lnSpc>
                <a:spcPct val="115000"/>
              </a:lnSpc>
              <a:spcBef>
                <a:spcPts val="1200"/>
              </a:spcBef>
              <a:spcAft>
                <a:spcPts val="0"/>
              </a:spcAft>
              <a:buSzPts val="1800"/>
              <a:buChar char="●"/>
            </a:pPr>
            <a:r>
              <a:rPr lang="en"/>
              <a:t>EvoFormer dropout enabled</a:t>
            </a:r>
            <a:endParaRPr/>
          </a:p>
          <a:p>
            <a:pPr indent="-342900" lvl="0" marL="457200" rtl="0" algn="l">
              <a:lnSpc>
                <a:spcPct val="115000"/>
              </a:lnSpc>
              <a:spcBef>
                <a:spcPts val="0"/>
              </a:spcBef>
              <a:spcAft>
                <a:spcPts val="0"/>
              </a:spcAft>
              <a:buSzPts val="1800"/>
              <a:buChar char="●"/>
            </a:pPr>
            <a:r>
              <a:rPr lang="en"/>
              <a:t>More recycling</a:t>
            </a:r>
            <a:endParaRPr/>
          </a:p>
        </p:txBody>
      </p:sp>
      <p:pic>
        <p:nvPicPr>
          <p:cNvPr id="165" name="Google Shape;165;p26"/>
          <p:cNvPicPr preferRelativeResize="0"/>
          <p:nvPr/>
        </p:nvPicPr>
        <p:blipFill rotWithShape="1">
          <a:blip r:embed="rId3">
            <a:alphaModFix/>
          </a:blip>
          <a:srcRect b="0" l="0" r="0" t="0"/>
          <a:stretch/>
        </p:blipFill>
        <p:spPr>
          <a:xfrm>
            <a:off x="4549501" y="227300"/>
            <a:ext cx="4237750" cy="4268651"/>
          </a:xfrm>
          <a:prstGeom prst="rect">
            <a:avLst/>
          </a:prstGeom>
          <a:noFill/>
          <a:ln>
            <a:noFill/>
          </a:ln>
        </p:spPr>
      </p:pic>
      <p:sp>
        <p:nvSpPr>
          <p:cNvPr id="166" name="Google Shape;166;p26"/>
          <p:cNvSpPr txBox="1"/>
          <p:nvPr/>
        </p:nvSpPr>
        <p:spPr>
          <a:xfrm>
            <a:off x="7076400" y="4716900"/>
            <a:ext cx="2067600" cy="426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Wallner</a:t>
            </a:r>
            <a:r>
              <a:rPr b="0" i="1" lang="en" sz="1600" u="none" cap="none" strike="noStrike">
                <a:solidFill>
                  <a:schemeClr val="dk1"/>
                </a:solidFill>
                <a:latin typeface="Arial"/>
                <a:ea typeface="Arial"/>
                <a:cs typeface="Arial"/>
                <a:sym typeface="Arial"/>
              </a:rPr>
              <a:t> </a:t>
            </a:r>
            <a:r>
              <a:rPr b="0" i="0" lang="en" sz="1600" u="none" cap="none" strike="noStrike">
                <a:solidFill>
                  <a:schemeClr val="dk1"/>
                </a:solidFill>
                <a:latin typeface="Arial"/>
                <a:ea typeface="Arial"/>
                <a:cs typeface="Arial"/>
                <a:sym typeface="Arial"/>
              </a:rPr>
              <a:t>(2022)</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a548aa6af4_0_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AF2 Initial Guess (Baker Lab) </a:t>
            </a:r>
            <a:endParaRPr/>
          </a:p>
        </p:txBody>
      </p:sp>
      <p:sp>
        <p:nvSpPr>
          <p:cNvPr id="172" name="Google Shape;172;g3a548aa6af4_0_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73" name="Google Shape;173;g3a548aa6af4_0_0"/>
          <p:cNvSpPr txBox="1"/>
          <p:nvPr>
            <p:ph type="title"/>
          </p:nvPr>
        </p:nvSpPr>
        <p:spPr>
          <a:xfrm>
            <a:off x="4167550" y="4538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chemeClr val="dk2"/>
                </a:solidFill>
              </a:rPr>
              <a:t>https://www.nature.com/articles/s41467-023-38328-5</a:t>
            </a:r>
            <a:r>
              <a:rPr lang="en"/>
              <a:t> </a:t>
            </a:r>
            <a:endParaRPr/>
          </a:p>
        </p:txBody>
      </p:sp>
      <p:pic>
        <p:nvPicPr>
          <p:cNvPr id="174" name="Google Shape;174;g3a548aa6af4_0_0" title="Screenshot 2025-11-17 at 7.15.16 AM.png"/>
          <p:cNvPicPr preferRelativeResize="0"/>
          <p:nvPr/>
        </p:nvPicPr>
        <p:blipFill>
          <a:blip r:embed="rId3">
            <a:alphaModFix/>
          </a:blip>
          <a:stretch>
            <a:fillRect/>
          </a:stretch>
        </p:blipFill>
        <p:spPr>
          <a:xfrm>
            <a:off x="413550" y="1152475"/>
            <a:ext cx="5260708" cy="3416401"/>
          </a:xfrm>
          <a:prstGeom prst="rect">
            <a:avLst/>
          </a:prstGeom>
          <a:noFill/>
          <a:ln>
            <a:noFill/>
          </a:ln>
        </p:spPr>
      </p:pic>
      <p:pic>
        <p:nvPicPr>
          <p:cNvPr id="175" name="Google Shape;175;g3a548aa6af4_0_0"/>
          <p:cNvPicPr preferRelativeResize="0"/>
          <p:nvPr/>
        </p:nvPicPr>
        <p:blipFill>
          <a:blip r:embed="rId4">
            <a:alphaModFix/>
          </a:blip>
          <a:stretch>
            <a:fillRect/>
          </a:stretch>
        </p:blipFill>
        <p:spPr>
          <a:xfrm>
            <a:off x="5721100" y="878825"/>
            <a:ext cx="1190075" cy="1190075"/>
          </a:xfrm>
          <a:prstGeom prst="rect">
            <a:avLst/>
          </a:prstGeom>
          <a:noFill/>
          <a:ln>
            <a:noFill/>
          </a:ln>
        </p:spPr>
      </p:pic>
      <p:pic>
        <p:nvPicPr>
          <p:cNvPr id="176" name="Google Shape;176;g3a548aa6af4_0_0"/>
          <p:cNvPicPr preferRelativeResize="0"/>
          <p:nvPr/>
        </p:nvPicPr>
        <p:blipFill>
          <a:blip r:embed="rId5">
            <a:alphaModFix/>
          </a:blip>
          <a:stretch>
            <a:fillRect/>
          </a:stretch>
        </p:blipFill>
        <p:spPr>
          <a:xfrm>
            <a:off x="5411725" y="2285653"/>
            <a:ext cx="3715175" cy="984525"/>
          </a:xfrm>
          <a:prstGeom prst="rect">
            <a:avLst/>
          </a:prstGeom>
          <a:noFill/>
          <a:ln>
            <a:noFill/>
          </a:ln>
        </p:spPr>
      </p:pic>
      <p:cxnSp>
        <p:nvCxnSpPr>
          <p:cNvPr id="177" name="Google Shape;177;g3a548aa6af4_0_0"/>
          <p:cNvCxnSpPr/>
          <p:nvPr/>
        </p:nvCxnSpPr>
        <p:spPr>
          <a:xfrm flipH="1">
            <a:off x="4811400" y="1651675"/>
            <a:ext cx="738600" cy="287100"/>
          </a:xfrm>
          <a:prstGeom prst="straightConnector1">
            <a:avLst/>
          </a:prstGeom>
          <a:noFill/>
          <a:ln cap="flat" cmpd="sng" w="9525">
            <a:solidFill>
              <a:srgbClr val="FF0000"/>
            </a:solidFill>
            <a:prstDash val="solid"/>
            <a:round/>
            <a:headEnd len="med" w="med" type="none"/>
            <a:tailEnd len="med" w="med" type="triangle"/>
          </a:ln>
        </p:spPr>
      </p:cxnSp>
      <p:cxnSp>
        <p:nvCxnSpPr>
          <p:cNvPr id="178" name="Google Shape;178;g3a548aa6af4_0_0"/>
          <p:cNvCxnSpPr/>
          <p:nvPr/>
        </p:nvCxnSpPr>
        <p:spPr>
          <a:xfrm rot="10800000">
            <a:off x="4702050" y="2205600"/>
            <a:ext cx="644700" cy="1416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AF-Cluster</a:t>
            </a:r>
            <a:endParaRPr/>
          </a:p>
        </p:txBody>
      </p:sp>
      <p:sp>
        <p:nvSpPr>
          <p:cNvPr id="184" name="Google Shape;184;p27"/>
          <p:cNvSpPr txBox="1"/>
          <p:nvPr>
            <p:ph idx="1" type="body"/>
          </p:nvPr>
        </p:nvSpPr>
        <p:spPr>
          <a:xfrm>
            <a:off x="311700" y="1152475"/>
            <a:ext cx="3423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Clustering the MSA can bias AF2 towards different states</a:t>
            </a:r>
            <a:endParaRPr/>
          </a:p>
        </p:txBody>
      </p:sp>
      <p:pic>
        <p:nvPicPr>
          <p:cNvPr id="185" name="Google Shape;185;p27"/>
          <p:cNvPicPr preferRelativeResize="0"/>
          <p:nvPr/>
        </p:nvPicPr>
        <p:blipFill rotWithShape="1">
          <a:blip r:embed="rId3">
            <a:alphaModFix/>
          </a:blip>
          <a:srcRect b="0" l="0" r="0" t="0"/>
          <a:stretch/>
        </p:blipFill>
        <p:spPr>
          <a:xfrm>
            <a:off x="3734800" y="137900"/>
            <a:ext cx="5216875" cy="4669675"/>
          </a:xfrm>
          <a:prstGeom prst="rect">
            <a:avLst/>
          </a:prstGeom>
          <a:noFill/>
          <a:ln>
            <a:noFill/>
          </a:ln>
        </p:spPr>
      </p:pic>
      <p:sp>
        <p:nvSpPr>
          <p:cNvPr id="186" name="Google Shape;186;p27"/>
          <p:cNvSpPr txBox="1"/>
          <p:nvPr/>
        </p:nvSpPr>
        <p:spPr>
          <a:xfrm>
            <a:off x="6228850" y="4716900"/>
            <a:ext cx="2915100" cy="426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Wayment-Steele </a:t>
            </a:r>
            <a:r>
              <a:rPr b="0" i="1" lang="en" sz="1600" u="none" cap="none" strike="noStrike">
                <a:solidFill>
                  <a:schemeClr val="dk1"/>
                </a:solidFill>
                <a:latin typeface="Arial"/>
                <a:ea typeface="Arial"/>
                <a:cs typeface="Arial"/>
                <a:sym typeface="Arial"/>
              </a:rPr>
              <a:t>et al. </a:t>
            </a:r>
            <a:r>
              <a:rPr b="0" i="0" lang="en" sz="1600" u="none" cap="none" strike="noStrike">
                <a:solidFill>
                  <a:schemeClr val="dk1"/>
                </a:solidFill>
                <a:latin typeface="Arial"/>
                <a:ea typeface="Arial"/>
                <a:cs typeface="Arial"/>
                <a:sym typeface="Arial"/>
              </a:rPr>
              <a:t>(2022)</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Automated AF2 workflows</a:t>
            </a:r>
            <a:endParaRPr/>
          </a:p>
        </p:txBody>
      </p:sp>
      <p:sp>
        <p:nvSpPr>
          <p:cNvPr id="192" name="Google Shape;192;p29"/>
          <p:cNvSpPr txBox="1"/>
          <p:nvPr>
            <p:ph idx="1" type="body"/>
          </p:nvPr>
        </p:nvSpPr>
        <p:spPr>
          <a:xfrm>
            <a:off x="311700" y="1152475"/>
            <a:ext cx="13653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EvoPro</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n"/>
              <a:t>BindCraft</a:t>
            </a:r>
            <a:endParaRPr/>
          </a:p>
        </p:txBody>
      </p:sp>
      <p:pic>
        <p:nvPicPr>
          <p:cNvPr id="193" name="Google Shape;193;p29"/>
          <p:cNvPicPr preferRelativeResize="0"/>
          <p:nvPr/>
        </p:nvPicPr>
        <p:blipFill rotWithShape="1">
          <a:blip r:embed="rId3">
            <a:alphaModFix/>
          </a:blip>
          <a:srcRect b="0" l="0" r="0" t="0"/>
          <a:stretch/>
        </p:blipFill>
        <p:spPr>
          <a:xfrm>
            <a:off x="3002600" y="967400"/>
            <a:ext cx="3625700" cy="2655525"/>
          </a:xfrm>
          <a:prstGeom prst="rect">
            <a:avLst/>
          </a:prstGeom>
          <a:noFill/>
          <a:ln>
            <a:noFill/>
          </a:ln>
        </p:spPr>
      </p:pic>
      <p:pic>
        <p:nvPicPr>
          <p:cNvPr id="194" name="Google Shape;194;p29"/>
          <p:cNvPicPr preferRelativeResize="0"/>
          <p:nvPr/>
        </p:nvPicPr>
        <p:blipFill rotWithShape="1">
          <a:blip r:embed="rId4">
            <a:alphaModFix/>
          </a:blip>
          <a:srcRect b="0" l="0" r="0" t="0"/>
          <a:stretch/>
        </p:blipFill>
        <p:spPr>
          <a:xfrm>
            <a:off x="2427425" y="3835374"/>
            <a:ext cx="6004300" cy="1066125"/>
          </a:xfrm>
          <a:prstGeom prst="rect">
            <a:avLst/>
          </a:prstGeom>
          <a:noFill/>
          <a:ln>
            <a:noFill/>
          </a:ln>
        </p:spPr>
      </p:pic>
      <p:sp>
        <p:nvSpPr>
          <p:cNvPr id="195" name="Google Shape;195;p29"/>
          <p:cNvSpPr txBox="1"/>
          <p:nvPr/>
        </p:nvSpPr>
        <p:spPr>
          <a:xfrm>
            <a:off x="311700" y="1631550"/>
            <a:ext cx="2832600" cy="42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100"/>
              </a:spcBef>
              <a:spcAft>
                <a:spcPts val="200"/>
              </a:spcAft>
              <a:buClr>
                <a:srgbClr val="000000"/>
              </a:buClr>
              <a:buSzPts val="1600"/>
              <a:buFont typeface="Arial"/>
              <a:buNone/>
            </a:pPr>
            <a:r>
              <a:rPr b="0" i="0" lang="en" sz="1600" u="none" cap="none" strike="noStrike">
                <a:solidFill>
                  <a:schemeClr val="dk1"/>
                </a:solidFill>
                <a:latin typeface="Arial"/>
                <a:ea typeface="Arial"/>
                <a:cs typeface="Arial"/>
                <a:sym typeface="Arial"/>
              </a:rPr>
              <a:t>Goudy </a:t>
            </a:r>
            <a:r>
              <a:rPr b="0" i="1" lang="en" sz="1600" u="none" cap="none" strike="noStrike">
                <a:solidFill>
                  <a:schemeClr val="dk1"/>
                </a:solidFill>
                <a:latin typeface="Arial"/>
                <a:ea typeface="Arial"/>
                <a:cs typeface="Arial"/>
                <a:sym typeface="Arial"/>
              </a:rPr>
              <a:t>et al.</a:t>
            </a:r>
            <a:r>
              <a:rPr b="0" i="0" lang="en" sz="1600" u="none" cap="none" strike="noStrike">
                <a:solidFill>
                  <a:schemeClr val="dk1"/>
                </a:solidFill>
                <a:latin typeface="Arial"/>
                <a:ea typeface="Arial"/>
                <a:cs typeface="Arial"/>
                <a:sym typeface="Arial"/>
              </a:rPr>
              <a:t> (2023)</a:t>
            </a:r>
            <a:endParaRPr b="0" i="0" sz="1600" u="none" cap="none" strike="noStrike">
              <a:solidFill>
                <a:schemeClr val="dk2"/>
              </a:solidFill>
              <a:latin typeface="Arial"/>
              <a:ea typeface="Arial"/>
              <a:cs typeface="Arial"/>
              <a:sym typeface="Arial"/>
            </a:endParaRPr>
          </a:p>
        </p:txBody>
      </p:sp>
      <p:sp>
        <p:nvSpPr>
          <p:cNvPr id="196" name="Google Shape;196;p29"/>
          <p:cNvSpPr txBox="1"/>
          <p:nvPr/>
        </p:nvSpPr>
        <p:spPr>
          <a:xfrm>
            <a:off x="311700" y="4365725"/>
            <a:ext cx="2832600" cy="42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100"/>
              </a:spcBef>
              <a:spcAft>
                <a:spcPts val="200"/>
              </a:spcAft>
              <a:buClr>
                <a:srgbClr val="000000"/>
              </a:buClr>
              <a:buSzPts val="1600"/>
              <a:buFont typeface="Arial"/>
              <a:buNone/>
            </a:pPr>
            <a:r>
              <a:rPr b="0" i="0" lang="en" sz="1600" u="none" cap="none" strike="noStrike">
                <a:solidFill>
                  <a:schemeClr val="dk1"/>
                </a:solidFill>
                <a:latin typeface="Arial"/>
                <a:ea typeface="Arial"/>
                <a:cs typeface="Arial"/>
                <a:sym typeface="Arial"/>
              </a:rPr>
              <a:t>Pacesa </a:t>
            </a:r>
            <a:r>
              <a:rPr b="0" i="1" lang="en" sz="1600" u="none" cap="none" strike="noStrike">
                <a:solidFill>
                  <a:schemeClr val="dk1"/>
                </a:solidFill>
                <a:latin typeface="Arial"/>
                <a:ea typeface="Arial"/>
                <a:cs typeface="Arial"/>
                <a:sym typeface="Arial"/>
              </a:rPr>
              <a:t>et al.</a:t>
            </a:r>
            <a:r>
              <a:rPr b="0" i="0" lang="en" sz="1600" u="none" cap="none" strike="noStrike">
                <a:solidFill>
                  <a:schemeClr val="dk1"/>
                </a:solidFill>
                <a:latin typeface="Arial"/>
                <a:ea typeface="Arial"/>
                <a:cs typeface="Arial"/>
                <a:sym typeface="Arial"/>
              </a:rPr>
              <a:t> (2024)</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Alphafold2 Parameters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graphicFrame>
        <p:nvGraphicFramePr>
          <p:cNvPr id="206" name="Google Shape;206;g3a548aa6af4_0_22"/>
          <p:cNvGraphicFramePr/>
          <p:nvPr/>
        </p:nvGraphicFramePr>
        <p:xfrm>
          <a:off x="514875" y="1773300"/>
          <a:ext cx="3000000" cy="3000000"/>
        </p:xfrm>
        <a:graphic>
          <a:graphicData uri="http://schemas.openxmlformats.org/drawingml/2006/table">
            <a:tbl>
              <a:tblPr>
                <a:noFill/>
                <a:tableStyleId>{E4AA04D5-9E16-4DFC-9786-A043F91E2081}</a:tableStyleId>
              </a:tblPr>
              <a:tblGrid>
                <a:gridCol w="2105025"/>
                <a:gridCol w="5648325"/>
              </a:tblGrid>
              <a:tr h="190500">
                <a:tc>
                  <a:txBody>
                    <a:bodyPr/>
                    <a:lstStyle/>
                    <a:p>
                      <a:pPr indent="0" lvl="0" marL="0" rtl="0" algn="ctr">
                        <a:lnSpc>
                          <a:spcPct val="115000"/>
                        </a:lnSpc>
                        <a:spcBef>
                          <a:spcPts val="0"/>
                        </a:spcBef>
                        <a:spcAft>
                          <a:spcPts val="0"/>
                        </a:spcAft>
                        <a:buNone/>
                      </a:pPr>
                      <a:r>
                        <a:rPr b="1" lang="en" sz="1100"/>
                        <a:t>Parameter</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What it does</a:t>
                      </a:r>
                      <a:endParaRPr b="1" sz="1100"/>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num_recycles</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How many times the model refines the structure. 0–20+ typical. Higher → better but slower.</a:t>
                      </a:r>
                      <a:endParaRPr/>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max_recycles</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Hard cap for recycling.</a:t>
                      </a:r>
                      <a:endParaRPr/>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recycle_early_stop_tolerance</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Stops early if the structure converges.</a:t>
                      </a:r>
                      <a:endParaRPr/>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tol</a:t>
                      </a:r>
                      <a:r>
                        <a:rPr lang="en" sz="1100"/>
                        <a:t> (older versions)</a:t>
                      </a:r>
                      <a:endParaRPr sz="1100"/>
                    </a:p>
                  </a:txBody>
                  <a:tcPr marT="91425" marB="91425" marR="91425" marL="91425"/>
                </a:tc>
                <a:tc>
                  <a:txBody>
                    <a:bodyPr/>
                    <a:lstStyle/>
                    <a:p>
                      <a:pPr indent="0" lvl="0" marL="0" rtl="0" algn="l">
                        <a:spcBef>
                          <a:spcPts val="0"/>
                        </a:spcBef>
                        <a:spcAft>
                          <a:spcPts val="0"/>
                        </a:spcAft>
                        <a:buNone/>
                      </a:pPr>
                      <a:r>
                        <a:rPr lang="en"/>
                        <a:t>Another early-stop threshold parameter.</a:t>
                      </a:r>
                      <a:endParaRPr/>
                    </a:p>
                  </a:txBody>
                  <a:tcPr marT="91425" marB="91425" marR="91425" marL="91425"/>
                </a:tc>
              </a:tr>
            </a:tbl>
          </a:graphicData>
        </a:graphic>
      </p:graphicFrame>
      <p:sp>
        <p:nvSpPr>
          <p:cNvPr id="207" name="Google Shape;207;g3a548aa6af4_0_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Recycling / Model Confidence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a548aa6af4_0_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MSA Settings</a:t>
            </a:r>
            <a:endParaRPr/>
          </a:p>
        </p:txBody>
      </p:sp>
      <p:graphicFrame>
        <p:nvGraphicFramePr>
          <p:cNvPr id="213" name="Google Shape;213;g3a548aa6af4_0_37"/>
          <p:cNvGraphicFramePr/>
          <p:nvPr/>
        </p:nvGraphicFramePr>
        <p:xfrm>
          <a:off x="220800" y="1677550"/>
          <a:ext cx="3000000" cy="3000000"/>
        </p:xfrm>
        <a:graphic>
          <a:graphicData uri="http://schemas.openxmlformats.org/drawingml/2006/table">
            <a:tbl>
              <a:tblPr>
                <a:noFill/>
                <a:tableStyleId>{E4AA04D5-9E16-4DFC-9786-A043F91E2081}</a:tableStyleId>
              </a:tblPr>
              <a:tblGrid>
                <a:gridCol w="990600"/>
                <a:gridCol w="6772275"/>
              </a:tblGrid>
              <a:tr h="190500">
                <a:tc>
                  <a:txBody>
                    <a:bodyPr/>
                    <a:lstStyle/>
                    <a:p>
                      <a:pPr indent="0" lvl="0" marL="0" rtl="0" algn="ctr">
                        <a:lnSpc>
                          <a:spcPct val="115000"/>
                        </a:lnSpc>
                        <a:spcBef>
                          <a:spcPts val="0"/>
                        </a:spcBef>
                        <a:spcAft>
                          <a:spcPts val="0"/>
                        </a:spcAft>
                        <a:buNone/>
                      </a:pPr>
                      <a:r>
                        <a:rPr b="1" lang="en" sz="1100"/>
                        <a:t>Parameter</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Explanation</a:t>
                      </a:r>
                      <a:endParaRPr b="1" sz="1100"/>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msa_mode</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MMseqs2 (default)</a:t>
                      </a:r>
                      <a:r>
                        <a:rPr lang="en" sz="1100"/>
                        <a:t>, </a:t>
                      </a:r>
                      <a:r>
                        <a:rPr lang="en" sz="1100">
                          <a:solidFill>
                            <a:srgbClr val="188038"/>
                          </a:solidFill>
                          <a:latin typeface="Roboto Mono"/>
                          <a:ea typeface="Roboto Mono"/>
                          <a:cs typeface="Roboto Mono"/>
                          <a:sym typeface="Roboto Mono"/>
                        </a:rPr>
                        <a:t>single_sequence</a:t>
                      </a:r>
                      <a:r>
                        <a:rPr lang="en" sz="1100"/>
                        <a:t>, </a:t>
                      </a:r>
                      <a:r>
                        <a:rPr lang="en" sz="1100">
                          <a:solidFill>
                            <a:srgbClr val="188038"/>
                          </a:solidFill>
                          <a:latin typeface="Roboto Mono"/>
                          <a:ea typeface="Roboto Mono"/>
                          <a:cs typeface="Roboto Mono"/>
                          <a:sym typeface="Roboto Mono"/>
                        </a:rPr>
                        <a:t>jackhmmer</a:t>
                      </a:r>
                      <a:r>
                        <a:rPr lang="en" sz="1100"/>
                        <a:t>, </a:t>
                      </a:r>
                      <a:r>
                        <a:rPr lang="en" sz="1100">
                          <a:solidFill>
                            <a:srgbClr val="188038"/>
                          </a:solidFill>
                          <a:latin typeface="Roboto Mono"/>
                          <a:ea typeface="Roboto Mono"/>
                          <a:cs typeface="Roboto Mono"/>
                          <a:sym typeface="Roboto Mono"/>
                        </a:rPr>
                        <a:t>mmseqs2_uniref</a:t>
                      </a:r>
                      <a:r>
                        <a:rPr lang="en" sz="1100"/>
                        <a:t>, etc.</a:t>
                      </a:r>
                      <a:endParaRPr sz="1100"/>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pair_mode</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1100"/>
                        <a:t>For multimers: </a:t>
                      </a:r>
                      <a:r>
                        <a:rPr lang="en" sz="1100">
                          <a:solidFill>
                            <a:srgbClr val="188038"/>
                          </a:solidFill>
                          <a:latin typeface="Roboto Mono"/>
                          <a:ea typeface="Roboto Mono"/>
                          <a:cs typeface="Roboto Mono"/>
                          <a:sym typeface="Roboto Mono"/>
                        </a:rPr>
                        <a:t>paired</a:t>
                      </a:r>
                      <a:r>
                        <a:rPr lang="en" sz="1100"/>
                        <a:t>, </a:t>
                      </a:r>
                      <a:r>
                        <a:rPr lang="en" sz="1100">
                          <a:solidFill>
                            <a:srgbClr val="188038"/>
                          </a:solidFill>
                          <a:latin typeface="Roboto Mono"/>
                          <a:ea typeface="Roboto Mono"/>
                          <a:cs typeface="Roboto Mono"/>
                          <a:sym typeface="Roboto Mono"/>
                        </a:rPr>
                        <a:t>unpaired</a:t>
                      </a:r>
                      <a:r>
                        <a:rPr lang="en" sz="1100"/>
                        <a:t>, </a:t>
                      </a:r>
                      <a:r>
                        <a:rPr lang="en" sz="1100">
                          <a:solidFill>
                            <a:srgbClr val="188038"/>
                          </a:solidFill>
                          <a:latin typeface="Roboto Mono"/>
                          <a:ea typeface="Roboto Mono"/>
                          <a:cs typeface="Roboto Mono"/>
                          <a:sym typeface="Roboto Mono"/>
                        </a:rPr>
                        <a:t>paired+unpaired</a:t>
                      </a:r>
                      <a:r>
                        <a:rPr lang="en" sz="1100"/>
                        <a:t>, </a:t>
                      </a:r>
                      <a:r>
                        <a:rPr lang="en" sz="1100">
                          <a:solidFill>
                            <a:srgbClr val="188038"/>
                          </a:solidFill>
                          <a:latin typeface="Roboto Mono"/>
                          <a:ea typeface="Roboto Mono"/>
                          <a:cs typeface="Roboto Mono"/>
                          <a:sym typeface="Roboto Mono"/>
                        </a:rPr>
                        <a:t>unpaired+paired</a:t>
                      </a:r>
                      <a:r>
                        <a:rPr lang="en" sz="1100"/>
                        <a:t> (affects inter-chain contacts heavily).</a:t>
                      </a:r>
                      <a:endParaRPr sz="1100"/>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use_msa</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Boolean to disable MSA entirely (single-sequence mode).</a:t>
                      </a:r>
                      <a:endParaRPr/>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use_env</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Include environmental MSA (metagenomic hits).</a:t>
                      </a:r>
                      <a:endParaRPr/>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use_templates</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Whether to search for templates.</a:t>
                      </a:r>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a548aa6af4_0_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Model controls </a:t>
            </a:r>
            <a:endParaRPr/>
          </a:p>
        </p:txBody>
      </p:sp>
      <p:graphicFrame>
        <p:nvGraphicFramePr>
          <p:cNvPr id="219" name="Google Shape;219;g3a548aa6af4_0_44"/>
          <p:cNvGraphicFramePr/>
          <p:nvPr/>
        </p:nvGraphicFramePr>
        <p:xfrm>
          <a:off x="1291125" y="1403975"/>
          <a:ext cx="3000000" cy="3000000"/>
        </p:xfrm>
        <a:graphic>
          <a:graphicData uri="http://schemas.openxmlformats.org/drawingml/2006/table">
            <a:tbl>
              <a:tblPr>
                <a:noFill/>
                <a:tableStyleId>{E4AA04D5-9E16-4DFC-9786-A043F91E2081}</a:tableStyleId>
              </a:tblPr>
              <a:tblGrid>
                <a:gridCol w="1066800"/>
                <a:gridCol w="4124325"/>
              </a:tblGrid>
              <a:tr h="190500">
                <a:tc>
                  <a:txBody>
                    <a:bodyPr/>
                    <a:lstStyle/>
                    <a:p>
                      <a:pPr indent="0" lvl="0" marL="0" rtl="0" algn="ctr">
                        <a:lnSpc>
                          <a:spcPct val="115000"/>
                        </a:lnSpc>
                        <a:spcBef>
                          <a:spcPts val="0"/>
                        </a:spcBef>
                        <a:spcAft>
                          <a:spcPts val="0"/>
                        </a:spcAft>
                        <a:buNone/>
                      </a:pPr>
                      <a:r>
                        <a:rPr b="1" lang="en" sz="1100"/>
                        <a:t>Parameter</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What it does</a:t>
                      </a:r>
                      <a:endParaRPr b="1" sz="1100"/>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model_type</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monomer</a:t>
                      </a:r>
                      <a:r>
                        <a:rPr lang="en" sz="1100"/>
                        <a:t>, </a:t>
                      </a:r>
                      <a:r>
                        <a:rPr lang="en" sz="1100">
                          <a:solidFill>
                            <a:srgbClr val="188038"/>
                          </a:solidFill>
                          <a:latin typeface="Roboto Mono"/>
                          <a:ea typeface="Roboto Mono"/>
                          <a:cs typeface="Roboto Mono"/>
                          <a:sym typeface="Roboto Mono"/>
                        </a:rPr>
                        <a:t>monomer_ptm</a:t>
                      </a:r>
                      <a:r>
                        <a:rPr lang="en" sz="1100"/>
                        <a:t>, </a:t>
                      </a:r>
                      <a:r>
                        <a:rPr lang="en" sz="1100">
                          <a:solidFill>
                            <a:srgbClr val="188038"/>
                          </a:solidFill>
                          <a:latin typeface="Roboto Mono"/>
                          <a:ea typeface="Roboto Mono"/>
                          <a:cs typeface="Roboto Mono"/>
                          <a:sym typeface="Roboto Mono"/>
                        </a:rPr>
                        <a:t>multimer</a:t>
                      </a:r>
                      <a:r>
                        <a:rPr lang="en" sz="1100"/>
                        <a:t>, </a:t>
                      </a:r>
                      <a:r>
                        <a:rPr lang="en" sz="1100">
                          <a:solidFill>
                            <a:srgbClr val="188038"/>
                          </a:solidFill>
                          <a:latin typeface="Roboto Mono"/>
                          <a:ea typeface="Roboto Mono"/>
                          <a:cs typeface="Roboto Mono"/>
                          <a:sym typeface="Roboto Mono"/>
                        </a:rPr>
                        <a:t>multimer_v3</a:t>
                      </a:r>
                      <a:r>
                        <a:rPr lang="en" sz="1100"/>
                        <a:t> (in newer builds).</a:t>
                      </a:r>
                      <a:endParaRPr sz="1100"/>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num_models</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Typically 5 AF2 models. Picking fewer is faster.</a:t>
                      </a:r>
                      <a:endParaRPr/>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rank_by</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sz="1100"/>
                        <a:t>Ranking metric: </a:t>
                      </a:r>
                      <a:r>
                        <a:rPr lang="en" sz="1100">
                          <a:solidFill>
                            <a:srgbClr val="188038"/>
                          </a:solidFill>
                          <a:latin typeface="Roboto Mono"/>
                          <a:ea typeface="Roboto Mono"/>
                          <a:cs typeface="Roboto Mono"/>
                          <a:sym typeface="Roboto Mono"/>
                        </a:rPr>
                        <a:t>pTMscore</a:t>
                      </a:r>
                      <a:r>
                        <a:rPr lang="en" sz="1100"/>
                        <a:t>, </a:t>
                      </a:r>
                      <a:r>
                        <a:rPr lang="en" sz="1100">
                          <a:solidFill>
                            <a:srgbClr val="188038"/>
                          </a:solidFill>
                          <a:latin typeface="Roboto Mono"/>
                          <a:ea typeface="Roboto Mono"/>
                          <a:cs typeface="Roboto Mono"/>
                          <a:sym typeface="Roboto Mono"/>
                        </a:rPr>
                        <a:t>iptm+ptm</a:t>
                      </a:r>
                      <a:r>
                        <a:rPr lang="en" sz="1100"/>
                        <a:t>, </a:t>
                      </a:r>
                      <a:r>
                        <a:rPr lang="en" sz="1100">
                          <a:solidFill>
                            <a:srgbClr val="188038"/>
                          </a:solidFill>
                          <a:latin typeface="Roboto Mono"/>
                          <a:ea typeface="Roboto Mono"/>
                          <a:cs typeface="Roboto Mono"/>
                          <a:sym typeface="Roboto Mono"/>
                        </a:rPr>
                        <a:t>plddt</a:t>
                      </a:r>
                      <a:r>
                        <a:rPr lang="en" sz="1100"/>
                        <a:t>.</a:t>
                      </a:r>
                      <a:endParaRPr sz="1100"/>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use_dropout</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Enable dropout (useful for sampling structural diversity).</a:t>
                      </a:r>
                      <a:endParaRPr/>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use_fast_relax</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Enable Amber relax (slow but improves geometry).</a:t>
                      </a:r>
                      <a:endParaRPr/>
                    </a:p>
                  </a:txBody>
                  <a:tcPr marT="91425" marB="91425" marR="91425" marL="91425"/>
                </a:tc>
              </a:tr>
              <a:tr h="190500">
                <a:tc>
                  <a:txBody>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use_gpu_relax</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
                        <a:t>GPU Amber relaxation.</a:t>
                      </a:r>
                      <a:endParaRPr/>
                    </a:p>
                  </a:txBody>
                  <a:tcPr marT="91425" marB="91425" marR="91425" marL="91425"/>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a548aa6af4_0_1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Hands-On Activity</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