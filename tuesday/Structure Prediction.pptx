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iwDkP4GIYxmNcJDl+d2v2wnSRG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B15350-995E-4ADF-802B-8A5F89CD2A4D}">
  <a:tblStyle styleId="{2AB15350-995E-4ADF-802B-8A5F89CD2A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 reality ti sn’t one clean funnel. It’s many funnels, and this sets the stage for the “protein folding problem”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Structure Prediction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>
                <a:solidFill>
                  <a:schemeClr val="dk1"/>
                </a:solidFill>
              </a:rPr>
              <a:t>Rosetta 2025 ML Bootcamp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Ian Anderson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5207357" y="4620280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Slides originally by Nick Randolph in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What is structure prediction?</a:t>
            </a:r>
            <a:endParaRPr sz="28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What is structure prediction?</a:t>
            </a:r>
            <a:endParaRPr sz="2820"/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1765450" y="1017725"/>
            <a:ext cx="58896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2400"/>
              <a:t>Given the linear amino acid sequence of a polypeptide, what is the 3D structure?</a:t>
            </a:r>
            <a:endParaRPr sz="2400"/>
          </a:p>
        </p:txBody>
      </p:sp>
      <p:sp>
        <p:nvSpPr>
          <p:cNvPr id="68" name="Google Shape;68;p3"/>
          <p:cNvSpPr txBox="1"/>
          <p:nvPr/>
        </p:nvSpPr>
        <p:spPr>
          <a:xfrm>
            <a:off x="5680700" y="2255450"/>
            <a:ext cx="2127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1003550" y="2255450"/>
            <a:ext cx="2127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1003550" y="2839463"/>
            <a:ext cx="2271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MGDIQVQVNIDDNGKNFDYTYTVTTESELQKVLNELMDYIKKQGAKRVRISITARTKKEAEKFAAILIKVFAELGYNDINVTFDGDTVTVEGQLEGGSLEHHHHHH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8674" y="2758102"/>
            <a:ext cx="1591050" cy="2179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3"/>
          <p:cNvCxnSpPr/>
          <p:nvPr/>
        </p:nvCxnSpPr>
        <p:spPr>
          <a:xfrm>
            <a:off x="3763900" y="3770550"/>
            <a:ext cx="1892700" cy="9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Following Anfinsen and Levinthal down the funnel</a:t>
            </a:r>
            <a:endParaRPr/>
          </a:p>
        </p:txBody>
      </p:sp>
      <p:sp>
        <p:nvSpPr>
          <p:cNvPr id="78" name="Google Shape;78;p4"/>
          <p:cNvSpPr txBox="1"/>
          <p:nvPr>
            <p:ph idx="1" type="body"/>
          </p:nvPr>
        </p:nvSpPr>
        <p:spPr>
          <a:xfrm>
            <a:off x="528000" y="1017725"/>
            <a:ext cx="5955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Anfinsen’s dogma (or thermodynamic hypothesis) (1960s):</a:t>
            </a:r>
            <a:r>
              <a:rPr lang="en"/>
              <a:t> </a:t>
            </a:r>
            <a:br>
              <a:rPr lang="en"/>
            </a:br>
            <a:r>
              <a:rPr lang="en"/>
              <a:t>The native structure is at a free energy minimum</a:t>
            </a:r>
            <a:br>
              <a:rPr lang="en"/>
            </a:br>
            <a:br>
              <a:rPr lang="en" sz="800"/>
            </a:b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444800" y="2834750"/>
            <a:ext cx="3966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Following Anfinsen and Levinthal down the funnel</a:t>
            </a:r>
            <a:endParaRPr/>
          </a:p>
        </p:txBody>
      </p:sp>
      <p:sp>
        <p:nvSpPr>
          <p:cNvPr id="85" name="Google Shape;85;p5"/>
          <p:cNvSpPr txBox="1"/>
          <p:nvPr>
            <p:ph idx="1" type="body"/>
          </p:nvPr>
        </p:nvSpPr>
        <p:spPr>
          <a:xfrm>
            <a:off x="528000" y="1017725"/>
            <a:ext cx="5955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Anfinsen’s dogma (or thermodynamic hypothesis) (1960s):</a:t>
            </a:r>
            <a:r>
              <a:rPr lang="en"/>
              <a:t> </a:t>
            </a:r>
            <a:br>
              <a:rPr lang="en"/>
            </a:br>
            <a:r>
              <a:rPr lang="en"/>
              <a:t>The native structure is at a free energy minimum</a:t>
            </a:r>
            <a:br>
              <a:rPr lang="en"/>
            </a:br>
            <a:br>
              <a:rPr lang="en" sz="800"/>
            </a:br>
            <a:r>
              <a:rPr b="1" lang="en"/>
              <a:t>Levinthal’s paradox: </a:t>
            </a:r>
            <a:br>
              <a:rPr b="1" lang="en"/>
            </a:br>
            <a:r>
              <a:rPr lang="en"/>
              <a:t>How can proteins fold spontaneously if they have so many degrees of freedom?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2444800" y="2834750"/>
            <a:ext cx="3966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Following Anfinsen and Levinthal down the funnel</a:t>
            </a:r>
            <a:endParaRPr/>
          </a:p>
        </p:txBody>
      </p:sp>
      <p:sp>
        <p:nvSpPr>
          <p:cNvPr id="92" name="Google Shape;92;p6"/>
          <p:cNvSpPr txBox="1"/>
          <p:nvPr>
            <p:ph idx="1" type="body"/>
          </p:nvPr>
        </p:nvSpPr>
        <p:spPr>
          <a:xfrm>
            <a:off x="528000" y="1017725"/>
            <a:ext cx="5955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Anfinsen’s dogma (or thermodynamic hypothesis) (1960s):</a:t>
            </a:r>
            <a:r>
              <a:rPr lang="en"/>
              <a:t> </a:t>
            </a:r>
            <a:br>
              <a:rPr lang="en"/>
            </a:br>
            <a:r>
              <a:rPr lang="en"/>
              <a:t>The native structure is at a free energy minimum</a:t>
            </a:r>
            <a:br>
              <a:rPr lang="en"/>
            </a:br>
            <a:br>
              <a:rPr lang="en" sz="800"/>
            </a:br>
            <a:r>
              <a:rPr b="1" lang="en"/>
              <a:t>Levinthal’s paradox: </a:t>
            </a:r>
            <a:br>
              <a:rPr b="1" lang="en"/>
            </a:br>
            <a:r>
              <a:rPr lang="en"/>
              <a:t>How can proteins fold spontaneously if they have so many degrees of freedom?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5973600" y="1382400"/>
            <a:ext cx="3170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 101 residues, there are &gt;3</a:t>
            </a:r>
            <a:r>
              <a:rPr b="0" baseline="30000" i="0" lang="e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r>
              <a:rPr b="0" i="0" lang="e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different conformations!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444800" y="2834750"/>
            <a:ext cx="3966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Following Anfinsen and Levinthal down the funnel</a:t>
            </a:r>
            <a:endParaRPr/>
          </a:p>
        </p:txBody>
      </p:sp>
      <p:sp>
        <p:nvSpPr>
          <p:cNvPr id="100" name="Google Shape;100;p7"/>
          <p:cNvSpPr txBox="1"/>
          <p:nvPr>
            <p:ph idx="1" type="body"/>
          </p:nvPr>
        </p:nvSpPr>
        <p:spPr>
          <a:xfrm>
            <a:off x="528000" y="1017725"/>
            <a:ext cx="5955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Anfinsen’s dogma (or thermodynamic hypothesis) (1960s):</a:t>
            </a:r>
            <a:r>
              <a:rPr lang="en"/>
              <a:t> </a:t>
            </a:r>
            <a:br>
              <a:rPr lang="en"/>
            </a:br>
            <a:r>
              <a:rPr lang="en"/>
              <a:t>The native structure is at a free energy minimum</a:t>
            </a:r>
            <a:br>
              <a:rPr lang="en"/>
            </a:br>
            <a:br>
              <a:rPr lang="en" sz="800"/>
            </a:br>
            <a:r>
              <a:rPr b="1" lang="en"/>
              <a:t>Levinthal’s paradox: </a:t>
            </a:r>
            <a:br>
              <a:rPr b="1" lang="en"/>
            </a:br>
            <a:r>
              <a:rPr lang="en"/>
              <a:t>How can proteins fold spontaneously if they have so many degrees of freedom?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 txBox="1"/>
          <p:nvPr/>
        </p:nvSpPr>
        <p:spPr>
          <a:xfrm>
            <a:off x="5973600" y="1606325"/>
            <a:ext cx="3170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 101 residues, there are &gt;3</a:t>
            </a:r>
            <a:r>
              <a:rPr b="0" baseline="30000" i="0" lang="e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r>
              <a:rPr b="0" i="0" lang="e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different conformations!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2788" y="3129450"/>
            <a:ext cx="3791075" cy="159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1588425" y="4632375"/>
            <a:ext cx="65622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59999"/>
              <a:buNone/>
            </a:pPr>
            <a:r>
              <a:rPr b="1" lang="en"/>
              <a:t>Key Insight</a:t>
            </a:r>
            <a:r>
              <a:rPr lang="en"/>
              <a:t>: Protein folding energy landscape is not shaped like a golf course, but rather a funnel</a:t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674025" y="3351500"/>
            <a:ext cx="3966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 reality it isn’t one clean funnel</a:t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2444800" y="2834750"/>
            <a:ext cx="3966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n a generalized Levinthal's paradox: The role of long- and short range  interactions in complex bio-molecular reactions, including protein and DNA  folding - ScienceDirect" id="111" name="Google Shape;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7310" y="1044381"/>
            <a:ext cx="5458279" cy="3911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Critical Assessment of protein Structure Prediction (CASP)</a:t>
            </a:r>
            <a:endParaRPr/>
          </a:p>
        </p:txBody>
      </p:sp>
      <p:pic>
        <p:nvPicPr>
          <p:cNvPr id="117" name="Google Shape;1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0100" y="1096475"/>
            <a:ext cx="5682201" cy="37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Critical Assessment of protein Structure Prediction (CASP)</a:t>
            </a:r>
            <a:endParaRPr/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0100" y="1096475"/>
            <a:ext cx="5682201" cy="372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0"/>
          <p:cNvSpPr txBox="1"/>
          <p:nvPr/>
        </p:nvSpPr>
        <p:spPr>
          <a:xfrm>
            <a:off x="676200" y="1017713"/>
            <a:ext cx="2127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CASP3 (1998)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"/>
          <p:cNvSpPr txBox="1"/>
          <p:nvPr/>
        </p:nvSpPr>
        <p:spPr>
          <a:xfrm>
            <a:off x="676200" y="1323363"/>
            <a:ext cx="21270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Fragment-based assembly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Critical Assessment of protein Structure Prediction (CASP)</a:t>
            </a:r>
            <a:endParaRPr/>
          </a:p>
        </p:txBody>
      </p:sp>
      <p:pic>
        <p:nvPicPr>
          <p:cNvPr id="131" name="Google Shape;1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0100" y="1096475"/>
            <a:ext cx="5682201" cy="372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1"/>
          <p:cNvSpPr txBox="1"/>
          <p:nvPr/>
        </p:nvSpPr>
        <p:spPr>
          <a:xfrm>
            <a:off x="676200" y="1017713"/>
            <a:ext cx="2127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CASP3 (1998)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1"/>
          <p:cNvSpPr txBox="1"/>
          <p:nvPr/>
        </p:nvSpPr>
        <p:spPr>
          <a:xfrm>
            <a:off x="676200" y="1323363"/>
            <a:ext cx="21270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Fragment-based assembly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1"/>
          <p:cNvSpPr txBox="1"/>
          <p:nvPr/>
        </p:nvSpPr>
        <p:spPr>
          <a:xfrm>
            <a:off x="676200" y="2206288"/>
            <a:ext cx="2127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CASP11 (2014)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1"/>
          <p:cNvSpPr txBox="1"/>
          <p:nvPr/>
        </p:nvSpPr>
        <p:spPr>
          <a:xfrm>
            <a:off x="390150" y="2510763"/>
            <a:ext cx="26991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Co-evolutionary analysis and deep learning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Critical Assessment of protein Structure Prediction (CASP)</a:t>
            </a:r>
            <a:endParaRPr/>
          </a:p>
        </p:txBody>
      </p:sp>
      <p:pic>
        <p:nvPicPr>
          <p:cNvPr id="141" name="Google Shape;1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0100" y="1096475"/>
            <a:ext cx="5682201" cy="372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2"/>
          <p:cNvSpPr txBox="1"/>
          <p:nvPr/>
        </p:nvSpPr>
        <p:spPr>
          <a:xfrm>
            <a:off x="676200" y="1017713"/>
            <a:ext cx="2127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CASP3 (1998)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676200" y="1323363"/>
            <a:ext cx="21270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Fragment-based assembly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676200" y="2206288"/>
            <a:ext cx="2127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CASP11 (2014)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390150" y="2510763"/>
            <a:ext cx="26991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Co-evolutionary analysis and deep learning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2"/>
          <p:cNvSpPr txBox="1"/>
          <p:nvPr/>
        </p:nvSpPr>
        <p:spPr>
          <a:xfrm>
            <a:off x="676200" y="3513713"/>
            <a:ext cx="2127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CASP13 (2018)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2"/>
          <p:cNvSpPr txBox="1"/>
          <p:nvPr/>
        </p:nvSpPr>
        <p:spPr>
          <a:xfrm>
            <a:off x="0" y="3797738"/>
            <a:ext cx="34794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Guiding minimization using deep learning-based potentials </a:t>
            </a:r>
            <a:b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(AlphaFold)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Structure prediction metrics</a:t>
            </a:r>
            <a:endParaRPr/>
          </a:p>
        </p:txBody>
      </p:sp>
      <p:graphicFrame>
        <p:nvGraphicFramePr>
          <p:cNvPr id="153" name="Google Shape;153;p13"/>
          <p:cNvGraphicFramePr/>
          <p:nvPr/>
        </p:nvGraphicFramePr>
        <p:xfrm>
          <a:off x="311700" y="1257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{2AB15350-995E-4ADF-802B-8A5F89CD2A4D}</a:tableStyleId>
              </a:tblPr>
              <a:tblGrid>
                <a:gridCol w="2179225"/>
                <a:gridCol w="1895775"/>
                <a:gridCol w="1587575"/>
                <a:gridCol w="1365275"/>
                <a:gridCol w="1492750"/>
              </a:tblGrid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Metric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Root Mean Squared Deviation (RMSD) 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Local Distance Difference Test (lDDT)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Global Distance Test (GDT) 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Template Modeling (TM) Score 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Units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Å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%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Range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&gt; 0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 (0, 1]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(0, 100]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(0, 1]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Length Dependent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Yes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No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Yes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No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Description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Average distance between atoms after superposition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Measures local structural similarity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global structural similarity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global structural similarity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54" name="Google Shape;154;p13"/>
          <p:cNvSpPr/>
          <p:nvPr/>
        </p:nvSpPr>
        <p:spPr>
          <a:xfrm>
            <a:off x="4395775" y="1121600"/>
            <a:ext cx="4520400" cy="365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Structure prediction metrics</a:t>
            </a:r>
            <a:endParaRPr/>
          </a:p>
        </p:txBody>
      </p:sp>
      <p:graphicFrame>
        <p:nvGraphicFramePr>
          <p:cNvPr id="160" name="Google Shape;160;p14"/>
          <p:cNvGraphicFramePr/>
          <p:nvPr/>
        </p:nvGraphicFramePr>
        <p:xfrm>
          <a:off x="311700" y="1257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{2AB15350-995E-4ADF-802B-8A5F89CD2A4D}</a:tableStyleId>
              </a:tblPr>
              <a:tblGrid>
                <a:gridCol w="2179225"/>
                <a:gridCol w="1895775"/>
                <a:gridCol w="1587575"/>
                <a:gridCol w="1365275"/>
                <a:gridCol w="1492750"/>
              </a:tblGrid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Metric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Root Mean Squared Deviation (RMSD) 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Local Distance Difference Test (lDDT)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Global Distance Test (GDT) 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Template Modeling (TM) Score 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Units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Å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%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Range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&gt; 0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 (0, 1]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(0, 100]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(0, 1]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Length Dependent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Yes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No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Yes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No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Description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Average distance between atoms after superposition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Measures local structural similarity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global structural similarity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global structural similarity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61" name="Google Shape;161;p14"/>
          <p:cNvSpPr/>
          <p:nvPr/>
        </p:nvSpPr>
        <p:spPr>
          <a:xfrm>
            <a:off x="5974275" y="1121600"/>
            <a:ext cx="2916600" cy="365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Structure prediction metrics</a:t>
            </a:r>
            <a:endParaRPr/>
          </a:p>
        </p:txBody>
      </p:sp>
      <p:graphicFrame>
        <p:nvGraphicFramePr>
          <p:cNvPr id="167" name="Google Shape;167;p15"/>
          <p:cNvGraphicFramePr/>
          <p:nvPr/>
        </p:nvGraphicFramePr>
        <p:xfrm>
          <a:off x="311700" y="1257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{2AB15350-995E-4ADF-802B-8A5F89CD2A4D}</a:tableStyleId>
              </a:tblPr>
              <a:tblGrid>
                <a:gridCol w="2179225"/>
                <a:gridCol w="1895775"/>
                <a:gridCol w="1587575"/>
                <a:gridCol w="1365275"/>
                <a:gridCol w="1492750"/>
              </a:tblGrid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Metric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Root Mean Squared Deviation (RMSD) 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Local Distance Difference Test (lDDT)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Global Distance Test (GDT) 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Template Modeling (TM) Score 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Units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Å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%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Range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&gt; 0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 (0, 1]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(0, 100]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(0, 1]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Length Dependent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Yes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No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Yes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No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Description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Average distance between atoms after superposition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Measures local structural similarity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global structural similarity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global structural similarity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68" name="Google Shape;168;p15"/>
          <p:cNvSpPr/>
          <p:nvPr/>
        </p:nvSpPr>
        <p:spPr>
          <a:xfrm>
            <a:off x="7339550" y="1121600"/>
            <a:ext cx="1576500" cy="365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Structure prediction metrics</a:t>
            </a:r>
            <a:endParaRPr/>
          </a:p>
        </p:txBody>
      </p:sp>
      <p:graphicFrame>
        <p:nvGraphicFramePr>
          <p:cNvPr id="174" name="Google Shape;174;p16"/>
          <p:cNvGraphicFramePr/>
          <p:nvPr/>
        </p:nvGraphicFramePr>
        <p:xfrm>
          <a:off x="311700" y="1257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{2AB15350-995E-4ADF-802B-8A5F89CD2A4D}</a:tableStyleId>
              </a:tblPr>
              <a:tblGrid>
                <a:gridCol w="2179225"/>
                <a:gridCol w="1895775"/>
                <a:gridCol w="1587575"/>
                <a:gridCol w="1365275"/>
                <a:gridCol w="1492750"/>
              </a:tblGrid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Metric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Root Mean Squared Deviation (RMSD) 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Local Distance Difference Test (lDDT)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Global Distance Test (GDT) 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Template Modeling (TM) Score 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Units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Å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%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Range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&gt; 0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 (0, 1]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(0, 100]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(0, 1]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Length Dependent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Yes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No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Yes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No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Description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Average distance between atoms after superposition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Measures local structural similarity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global structural similarity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global structural similarity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Applications</a:t>
            </a:r>
            <a:endParaRPr/>
          </a:p>
        </p:txBody>
      </p:sp>
      <p:sp>
        <p:nvSpPr>
          <p:cNvPr id="180" name="Google Shape;1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Molecular Replacement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Predicted protein structures have been used to enhance or fill in experimental structures obtained by techniques like X-ray crystallography, cryo-EM, and NMR spectroscopy.</a:t>
            </a:r>
            <a:br>
              <a:rPr lang="en"/>
            </a:b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Applications</a:t>
            </a:r>
            <a:endParaRPr/>
          </a:p>
        </p:txBody>
      </p:sp>
      <p:sp>
        <p:nvSpPr>
          <p:cNvPr id="186" name="Google Shape;1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Molecular Replacement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Predicted protein structures have been used to enhance or fill in experimental structures obtained by techniques like X-ray crystallography, cryo-EM, and NMR spectroscopy.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Interpreting experimental results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Predicted structures of proteins may provide support for experimental findings</a:t>
            </a:r>
            <a:br>
              <a:rPr lang="en"/>
            </a:b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Applications</a:t>
            </a:r>
            <a:endParaRPr/>
          </a:p>
        </p:txBody>
      </p:sp>
      <p:sp>
        <p:nvSpPr>
          <p:cNvPr id="192" name="Google Shape;1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Molecular Replacement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Predicted protein structures have been used to enhance or fill in experimental structures obtained by techniques like X-ray crystallography, cryo-EM, and NMR spectroscopy.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Interpreting experimental results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Predicted structures of proteins may provide support for experimental findings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Functional prediction and hypothesis testing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Enables generation of structure hypotheses related to function and other key properties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Applications</a:t>
            </a:r>
            <a:endParaRPr/>
          </a:p>
        </p:txBody>
      </p:sp>
      <p:sp>
        <p:nvSpPr>
          <p:cNvPr id="198" name="Google Shape;1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Molecular Replacement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Predicted protein structures have been used to enhance or fill in experimental structures obtained by techniques like X-ray crystallography, cryo-EM, and NMR spectroscopy.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Interpreting experimental results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Predicted structures of proteins may provide support for experimental findings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Functional prediction and hypothesis testing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Enables generation of structure hypotheses related to function and other key properties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Starting point for protein engineering and design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